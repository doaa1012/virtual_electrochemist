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8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9286-2A22-916B-BA76-F8237558F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3F0F4-6108-F16C-0735-5BA15F591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0AA13-41FE-6E9E-6D7B-E542BDCF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E294-678E-F387-3ED8-D1155E1B7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DB06A-4D1B-9C56-2D31-D973FE0E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20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8DA8-F634-8D0B-2C8A-072779B8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A681B-45DA-3D82-2DF2-E26C0406C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7BD4E-BC92-F07F-124B-4A91B110A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CCFDF-8F7C-D974-8E17-8BE57356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E167C-A561-598C-279B-064EBE22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99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2468-8D38-5D62-3BEB-4C332BFF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654D4-5B5C-43B0-3FC5-ABB41BC90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4534-2566-CD8F-285B-DE9B4015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B5F5-55E6-A825-FAB7-F9B34F38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EE682-E4E1-649B-883D-A9A47DC3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9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F0CD-0283-D1ED-E951-AF0A8241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8327E-19E0-67F6-EFC6-970AFA777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0D251-089B-ED00-FD48-EA2E410E1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D4F75-EECD-F6C2-21B6-DD1E53921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6FF52-4958-9AB6-1E16-BCC183A0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25744-4DDD-1FA8-97F9-82970114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6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E853-AE88-FA76-3D59-C89D781CB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EBE08-9D0B-3585-E4EF-F81CF1225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86B85-F4EA-3182-7329-B709F091A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E64FF-83F3-69DC-1650-14C0CF38E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E40DF-C7EB-6DA0-715D-72E3B960E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19E91B-4DCF-0F0D-3F86-21AC713D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52F66-9CD2-1835-A655-26566725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C7276-2C3A-28D6-AB74-7C38CF78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6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01F4-2F6A-D0E8-1654-0C1387DE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238B44-6F62-3EDC-0592-E0D100C4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C94FD-24EC-018F-BD2C-B5A6FAA8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62F8C-CB09-43C9-3F31-05C62731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04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B5C36-3347-28F9-53D4-1D545D4B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92E04-3AC1-2B26-DEEB-5E8ABC49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BAEB5-4F9F-C0D6-A146-DB6718E1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2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F88C-60AB-CE6F-0CB1-69B3B306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DA5A2-B595-C481-8E75-CF3CFE001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C7C0E-36DD-7DF5-B081-BFAB5AD38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EF369-8ADC-7180-0D82-A0455367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9A71B-B49A-274A-8059-04AF148A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21E74-64BC-67EF-6F3F-FB3FA688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89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8797A-184B-F42F-DD40-11D841108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496CD-0F3A-F183-B00A-04590CAC9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351BC-973B-ADAE-B779-B39533965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875E5-0017-4F09-71B1-C21E42D8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41F95-057E-025C-96A2-FA90BB3E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1EE66-8E47-6064-7DD7-7C919345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2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5CA6-2C5A-F918-5F28-BFBDD917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AEBA0-8137-5B08-BA80-1BE4FF87A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6DFAD-F4BD-3039-0A17-8FED80AA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FDAE2-94B5-D6DC-4973-70713983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56A56-EC25-1808-C8D6-27F3DA8B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291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5A182-520F-C526-DAB5-FC4503E5D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21FA7-19CB-5DB3-7F72-B85CFBE8B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584B5-E0C8-1AE5-7CE3-776ED6BF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B40B1-7D09-0DA1-C404-9751F3B0F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E6638-4941-FC08-C6A5-5954CA5E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4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3C893D-64AD-7159-61EA-89D25C0F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88F2E-B64F-15D6-8E72-755BD221A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2B2BA-1374-637F-235F-5C14188A7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25016-4EEC-499C-9A5A-93F130C77B2C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2CB98-7AE5-729A-4718-AF6467F43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5C53B-23CC-C7CB-F850-095B2DF1D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C72B1-5B01-49A3-9DA4-AC44400A26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5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5027-094D-396F-1FEB-34BF6BC761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Virtual Electrochemist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F711E-7F72-091D-694D-B468AE867F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From Carla &amp; Ieva</a:t>
            </a:r>
          </a:p>
          <a:p>
            <a:r>
              <a:rPr lang="de-DE" dirty="0"/>
              <a:t>To Wolfgang</a:t>
            </a:r>
          </a:p>
        </p:txBody>
      </p:sp>
    </p:spTree>
    <p:extLst>
      <p:ext uri="{BB962C8B-B14F-4D97-AF65-F5344CB8AC3E}">
        <p14:creationId xmlns:p14="http://schemas.microsoft.com/office/powerpoint/2010/main" val="5843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A5B73-C7B2-1828-BDE8-250ACC7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0"/>
            <a:ext cx="10515600" cy="1325563"/>
          </a:xfrm>
        </p:spPr>
        <p:txBody>
          <a:bodyPr/>
          <a:lstStyle/>
          <a:p>
            <a:r>
              <a:rPr lang="de-DE" dirty="0"/>
              <a:t>Electrochemistry data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A48809-BA77-0D9A-2F82-C1ECC8D4F5BE}"/>
              </a:ext>
            </a:extLst>
          </p:cNvPr>
          <p:cNvSpPr/>
          <p:nvPr/>
        </p:nvSpPr>
        <p:spPr>
          <a:xfrm>
            <a:off x="450055" y="2178844"/>
            <a:ext cx="7236619" cy="4550568"/>
          </a:xfrm>
          <a:prstGeom prst="roundRect">
            <a:avLst>
              <a:gd name="adj" fmla="val 392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lphaLcParenR"/>
            </a:pPr>
            <a:r>
              <a:rPr lang="de-DE" dirty="0">
                <a:highlight>
                  <a:srgbClr val="FFFF00"/>
                </a:highlight>
              </a:rPr>
              <a:t>Ammonia Oxidation Reaction (AmOR)</a:t>
            </a:r>
          </a:p>
          <a:p>
            <a:r>
              <a:rPr lang="de-DE" dirty="0"/>
              <a:t>AmOR1: raw LSV data purging Ar</a:t>
            </a:r>
          </a:p>
          <a:p>
            <a:r>
              <a:rPr lang="de-DE" dirty="0"/>
              <a:t>AmOR2: raw LSV data purging NH3</a:t>
            </a:r>
          </a:p>
          <a:p>
            <a:r>
              <a:rPr lang="de-DE" dirty="0"/>
              <a:t>AmOR3: EIS for IR correction</a:t>
            </a:r>
          </a:p>
          <a:p>
            <a:endParaRPr lang="de-DE" dirty="0">
              <a:highlight>
                <a:srgbClr val="FFFF00"/>
              </a:highlight>
            </a:endParaRPr>
          </a:p>
          <a:p>
            <a:endParaRPr lang="de-DE" dirty="0">
              <a:highlight>
                <a:srgbClr val="FFFF00"/>
              </a:highlight>
            </a:endParaRPr>
          </a:p>
          <a:p>
            <a:endParaRPr lang="de-DE" dirty="0">
              <a:highlight>
                <a:srgbClr val="FFFF00"/>
              </a:highlight>
            </a:endParaRPr>
          </a:p>
          <a:p>
            <a:endParaRPr lang="de-DE" dirty="0">
              <a:highlight>
                <a:srgbClr val="FFFF00"/>
              </a:highlight>
            </a:endParaRPr>
          </a:p>
          <a:p>
            <a:r>
              <a:rPr lang="de-DE" dirty="0"/>
              <a:t>b) </a:t>
            </a:r>
            <a:r>
              <a:rPr lang="de-DE" dirty="0">
                <a:highlight>
                  <a:srgbClr val="00FFFF"/>
                </a:highlight>
              </a:rPr>
              <a:t>Hydrogen Evolution Reaction (HER)</a:t>
            </a:r>
          </a:p>
          <a:p>
            <a:r>
              <a:rPr lang="de-DE" dirty="0"/>
              <a:t>Extract from the origin file:</a:t>
            </a:r>
          </a:p>
          <a:p>
            <a:r>
              <a:rPr lang="de-DE" dirty="0"/>
              <a:t>HER1: LSV, CV and EIS_ using electrode 2</a:t>
            </a:r>
          </a:p>
          <a:p>
            <a:r>
              <a:rPr lang="de-DE" dirty="0"/>
              <a:t>HER2: LSV, CV and EIS _ using electrode 4</a:t>
            </a:r>
          </a:p>
          <a:p>
            <a:r>
              <a:rPr lang="de-DE" dirty="0"/>
              <a:t>HER3: LSV, CV and EIS _ using electrode 5</a:t>
            </a:r>
          </a:p>
          <a:p>
            <a:r>
              <a:rPr lang="de-DE" dirty="0"/>
              <a:t>HER4: LSV, CV and EIS _ using electrode 6</a:t>
            </a:r>
          </a:p>
          <a:p>
            <a:r>
              <a:rPr lang="de-DE" dirty="0"/>
              <a:t>(CV for conditing the electrode, EIS for IR correction)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13E399-88FE-2A89-F9B9-904D6233730C}"/>
              </a:ext>
            </a:extLst>
          </p:cNvPr>
          <p:cNvSpPr/>
          <p:nvPr/>
        </p:nvSpPr>
        <p:spPr>
          <a:xfrm>
            <a:off x="7858125" y="2178843"/>
            <a:ext cx="4095750" cy="4493419"/>
          </a:xfrm>
          <a:prstGeom prst="roundRect">
            <a:avLst>
              <a:gd name="adj" fmla="val 71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Experimental details</a:t>
            </a:r>
            <a:endParaRPr lang="en-US" sz="1200" dirty="0"/>
          </a:p>
          <a:p>
            <a:r>
              <a:rPr lang="en-US" sz="1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Catalyst composition: (elemental concentrations in overall cell in contact)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ii) Electrode material: (e.g. sputtered on something on Ni, C, glassy carbon)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iii) Catalyst morphology: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iv) Electrolyte: composition: (e.g. 1M KOH; +pH value;+purging condition(e.g. </a:t>
            </a:r>
            <a:r>
              <a:rPr lang="en-US" sz="1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Ar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O, air))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v) Environment of experiment: (room atmosphere, room temperature, any chamber, </a:t>
            </a:r>
            <a:r>
              <a:rPr lang="en-US" sz="1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fumehood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vi) Reference electrode: (e.g.: the one used in the experiment, Ag|AgCl|3M </a:t>
            </a:r>
            <a:r>
              <a:rPr lang="en-US" sz="1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KCl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vii) Scan rate: (e.g.: 1 V/s)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viii) potential range: (vs. using the real reference, like Ag|AgCl|3M </a:t>
            </a:r>
            <a:r>
              <a:rPr lang="en-US" sz="1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KCl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ix) IR correction/compensation: (yes/no and how, there is the EIS in the SI?)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x) Normalization procedure area: (current density, is described at the paper which is the Area?)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xi) publication reference: (</a:t>
            </a:r>
            <a:r>
              <a:rPr lang="en-US" sz="1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doi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b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xii) Any other additional information: (any details you may think it is important)</a:t>
            </a:r>
            <a:endParaRPr lang="de-DE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AD8E35-7C78-3602-00BC-3EA45D9D3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826" y="2500339"/>
            <a:ext cx="2807835" cy="928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3EDBB5-FB71-3AF5-DD18-F6F4E4887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005" y="3736182"/>
            <a:ext cx="1663656" cy="287178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482BEA-5FA3-3250-5FC0-30DC99835AB1}"/>
              </a:ext>
            </a:extLst>
          </p:cNvPr>
          <p:cNvSpPr/>
          <p:nvPr/>
        </p:nvSpPr>
        <p:spPr>
          <a:xfrm>
            <a:off x="450055" y="1002505"/>
            <a:ext cx="11503820" cy="848138"/>
          </a:xfrm>
          <a:prstGeom prst="roundRect">
            <a:avLst>
              <a:gd name="adj" fmla="val 71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Data plots and the experimental details will be presented in the following slides. </a:t>
            </a:r>
          </a:p>
          <a:p>
            <a:r>
              <a:rPr lang="en-US" dirty="0"/>
              <a:t>Data files were sent in zip format and can be visualized by origin, excel, </a:t>
            </a:r>
            <a:r>
              <a:rPr lang="en-US" dirty="0" err="1"/>
              <a:t>matlab</a:t>
            </a:r>
            <a:r>
              <a:rPr lang="en-US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401139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4EFD1C-4C9F-2E48-A6E6-4F20D0B6DD1A}"/>
              </a:ext>
            </a:extLst>
          </p:cNvPr>
          <p:cNvSpPr/>
          <p:nvPr/>
        </p:nvSpPr>
        <p:spPr>
          <a:xfrm>
            <a:off x="5715000" y="221456"/>
            <a:ext cx="5965031" cy="6515100"/>
          </a:xfrm>
          <a:prstGeom prst="roundRect">
            <a:avLst>
              <a:gd name="adj" fmla="val 38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09BC0-A0DF-4846-A893-9E79B4E6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a) </a:t>
            </a:r>
            <a:r>
              <a:rPr lang="lt-LT" dirty="0">
                <a:highlight>
                  <a:srgbClr val="FFFF00"/>
                </a:highlight>
              </a:rPr>
              <a:t>AmOR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EB4D1-EF73-D8B8-8340-F3EE93089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281"/>
            <a:ext cx="4783931" cy="4351338"/>
          </a:xfrm>
        </p:spPr>
        <p:txBody>
          <a:bodyPr/>
          <a:lstStyle/>
          <a:p>
            <a:pPr marL="0" indent="0">
              <a:buNone/>
            </a:pPr>
            <a:r>
              <a:rPr lang="lt-LT" dirty="0"/>
              <a:t>Ni</a:t>
            </a:r>
            <a:r>
              <a:rPr lang="lt-LT" baseline="-25000" dirty="0"/>
              <a:t>f</a:t>
            </a:r>
            <a:r>
              <a:rPr lang="lt-LT" dirty="0"/>
              <a:t>_</a:t>
            </a:r>
            <a:r>
              <a:rPr lang="en-GB" dirty="0"/>
              <a:t>Al</a:t>
            </a:r>
            <a:r>
              <a:rPr lang="lt-LT" dirty="0"/>
              <a:t>Co</a:t>
            </a:r>
            <a:r>
              <a:rPr lang="en-GB" dirty="0"/>
              <a:t>Cr</a:t>
            </a:r>
            <a:r>
              <a:rPr lang="lt-LT" dirty="0"/>
              <a:t>Cu</a:t>
            </a:r>
            <a:r>
              <a:rPr lang="en-GB" dirty="0"/>
              <a:t>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907F8-F0B0-E5C8-EF39-DD811EF544A0}"/>
              </a:ext>
            </a:extLst>
          </p:cNvPr>
          <p:cNvSpPr txBox="1"/>
          <p:nvPr/>
        </p:nvSpPr>
        <p:spPr>
          <a:xfrm>
            <a:off x="5776179" y="222250"/>
            <a:ext cx="562897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Details</a:t>
            </a:r>
          </a:p>
          <a:p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Aimed composition:</a:t>
            </a:r>
            <a:r>
              <a:rPr lang="en-GB" sz="1400" dirty="0"/>
              <a:t> Al</a:t>
            </a:r>
            <a:r>
              <a:rPr lang="en-GB" sz="1400" baseline="-25000" dirty="0"/>
              <a:t>20</a:t>
            </a:r>
            <a:r>
              <a:rPr lang="en-GB" sz="1400" dirty="0"/>
              <a:t>Cr</a:t>
            </a:r>
            <a:r>
              <a:rPr lang="en-GB" sz="1400" baseline="-25000" dirty="0"/>
              <a:t>20</a:t>
            </a:r>
            <a:r>
              <a:rPr lang="en-GB" sz="1400" dirty="0"/>
              <a:t>Fe</a:t>
            </a:r>
            <a:r>
              <a:rPr lang="en-GB" sz="1400" baseline="-25000" dirty="0"/>
              <a:t>20</a:t>
            </a:r>
            <a:r>
              <a:rPr lang="en-GB" sz="1400" dirty="0"/>
              <a:t>Co</a:t>
            </a:r>
            <a:r>
              <a:rPr lang="en-GB" sz="1400" baseline="-25000" dirty="0"/>
              <a:t>20</a:t>
            </a:r>
            <a:r>
              <a:rPr lang="en-GB" sz="1400" dirty="0"/>
              <a:t>Cu</a:t>
            </a:r>
            <a:r>
              <a:rPr lang="en-GB" sz="1400" baseline="-25000" dirty="0"/>
              <a:t>20</a:t>
            </a:r>
            <a:r>
              <a:rPr lang="en-GB" sz="1400" dirty="0"/>
              <a:t>, ICP-MS confirmed: Al</a:t>
            </a:r>
            <a:r>
              <a:rPr lang="en-GB" sz="1400" baseline="-25000" dirty="0"/>
              <a:t>21</a:t>
            </a:r>
            <a:r>
              <a:rPr lang="en-GB" sz="1400" dirty="0"/>
              <a:t>Cr</a:t>
            </a:r>
            <a:r>
              <a:rPr lang="en-GB" sz="1400" baseline="-25000" dirty="0"/>
              <a:t>13</a:t>
            </a:r>
            <a:r>
              <a:rPr lang="en-GB" sz="1400" dirty="0"/>
              <a:t>Fe</a:t>
            </a:r>
            <a:r>
              <a:rPr lang="en-GB" sz="1400" baseline="-25000" dirty="0"/>
              <a:t>22</a:t>
            </a:r>
            <a:r>
              <a:rPr lang="en-GB" sz="1400" dirty="0"/>
              <a:t>Co</a:t>
            </a:r>
            <a:r>
              <a:rPr lang="en-GB" sz="1400" baseline="-25000" dirty="0"/>
              <a:t>21</a:t>
            </a:r>
            <a:r>
              <a:rPr lang="en-GB" sz="1400" dirty="0"/>
              <a:t>Cu</a:t>
            </a:r>
            <a:r>
              <a:rPr lang="en-GB" sz="1400" baseline="-25000" dirty="0"/>
              <a:t>23</a:t>
            </a:r>
            <a:endParaRPr lang="en-GB" sz="1400" dirty="0"/>
          </a:p>
          <a:p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ii)</a:t>
            </a:r>
            <a:r>
              <a:rPr lang="en-GB" sz="1400" dirty="0"/>
              <a:t> Ni foam substrate, Al</a:t>
            </a:r>
            <a:r>
              <a:rPr lang="lt-LT" sz="1400" dirty="0"/>
              <a:t>Co</a:t>
            </a:r>
            <a:r>
              <a:rPr lang="en-GB" sz="1400" dirty="0"/>
              <a:t>Cr</a:t>
            </a:r>
            <a:r>
              <a:rPr lang="lt-LT" sz="1400" dirty="0"/>
              <a:t>Cu</a:t>
            </a:r>
            <a:r>
              <a:rPr lang="en-GB" sz="1400" dirty="0"/>
              <a:t>Fe layer deposited by spray coating according to PVP/metal precursor spraying synthesis (https://doi.org/10.1002/anie.202218493)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iii) Catalyst morphology: </a:t>
            </a:r>
            <a:r>
              <a:rPr lang="en-GB" sz="1400" dirty="0"/>
              <a:t>SEM, TEM, XRD, ICP-MS (https://doi.org/10.1002/anie.202404348)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iv) Electrolyte: composition:</a:t>
            </a:r>
            <a:r>
              <a:rPr lang="en-GB" sz="1400" dirty="0"/>
              <a:t> 1M KOH; pH 13.9, GDE condition (scheme in the next slide). Gas purged as shown in the figure, in case of only </a:t>
            </a:r>
            <a:r>
              <a:rPr lang="en-GB" sz="1400" dirty="0" err="1"/>
              <a:t>Ar</a:t>
            </a:r>
            <a:r>
              <a:rPr lang="en-GB" sz="1400" dirty="0"/>
              <a:t> – OER (black line), Ar+NH</a:t>
            </a:r>
            <a:r>
              <a:rPr lang="en-GB" sz="1400" baseline="-25000" dirty="0"/>
              <a:t>3</a:t>
            </a:r>
            <a:r>
              <a:rPr lang="en-GB" sz="1400" dirty="0"/>
              <a:t> – OER in competition with </a:t>
            </a:r>
            <a:r>
              <a:rPr lang="en-GB" sz="1400" dirty="0" err="1"/>
              <a:t>AmOR</a:t>
            </a:r>
            <a:r>
              <a:rPr lang="en-GB" sz="1400" dirty="0"/>
              <a:t> (red line)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v) Environment of experiment:</a:t>
            </a:r>
            <a:r>
              <a:rPr lang="en-GB" sz="1400" dirty="0"/>
              <a:t> room atmosphere, room temperature, </a:t>
            </a:r>
            <a:r>
              <a:rPr lang="en-GB" sz="1400" dirty="0" err="1"/>
              <a:t>fumehood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vi) Reference electrode:</a:t>
            </a:r>
            <a:r>
              <a:rPr lang="en-GB" sz="1400" dirty="0"/>
              <a:t> Ag|AgCl|3M </a:t>
            </a:r>
            <a:r>
              <a:rPr lang="en-GB" sz="1400" dirty="0" err="1"/>
              <a:t>KCl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vii) Scan rate:</a:t>
            </a:r>
            <a:r>
              <a:rPr lang="en-GB" sz="1400" dirty="0"/>
              <a:t> 10 mV/s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viii) potential range:</a:t>
            </a:r>
            <a:r>
              <a:rPr lang="en-GB" sz="1400" dirty="0"/>
              <a:t> from 0 V to 0.8 V vs. Ag|AgCl|3M </a:t>
            </a:r>
            <a:r>
              <a:rPr lang="en-GB" sz="1400" dirty="0" err="1"/>
              <a:t>KCl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ix) IR correction/compensation:</a:t>
            </a:r>
            <a:r>
              <a:rPr lang="en-GB" sz="1400" dirty="0"/>
              <a:t> yes (file added)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x) Normalization procedure area:</a:t>
            </a:r>
            <a:r>
              <a:rPr lang="en-GB" sz="1400" dirty="0"/>
              <a:t> geometric area (0.95 cm</a:t>
            </a:r>
            <a:r>
              <a:rPr lang="en-GB" sz="1400" baseline="30000" dirty="0"/>
              <a:t>2</a:t>
            </a:r>
            <a:r>
              <a:rPr lang="en-GB" sz="1400" dirty="0"/>
              <a:t>) is used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xi) publication reference:</a:t>
            </a:r>
            <a:r>
              <a:rPr lang="en-GB" sz="1400" dirty="0"/>
              <a:t> this LSV was not included in the publication, but the catalyst was published due to its selectivity (https://doi.org/10.1002/anie.202404348)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xii) Any other additional information:</a:t>
            </a:r>
            <a:r>
              <a:rPr lang="en-GB" sz="1400" dirty="0"/>
              <a:t> LSVs obtained using Ni foam-based electrodes usually demonstrate mediocre reproducibility, due to the difference in real surface area, which cannot be so easily determined. However, general behaviour usually remains the same – if we see significantly increased currents in </a:t>
            </a:r>
            <a:r>
              <a:rPr lang="en-GB" sz="1400" dirty="0" err="1"/>
              <a:t>AmOR</a:t>
            </a:r>
            <a:r>
              <a:rPr lang="en-GB" sz="1400" dirty="0"/>
              <a:t> conditions, this would not change. Only the exact current values might vary (+-10 mA cm</a:t>
            </a:r>
            <a:r>
              <a:rPr lang="en-GB" sz="1400" baseline="30000" dirty="0"/>
              <a:t>-2</a:t>
            </a:r>
            <a:r>
              <a:rPr lang="en-GB" sz="1400" dirty="0"/>
              <a:t>). Before LSV measurements, conditioning cycles from 0 V to 0.45 V vs. </a:t>
            </a:r>
            <a:r>
              <a:rPr lang="en-GB" sz="1400" dirty="0" err="1"/>
              <a:t>Ag|AgCl|KCl</a:t>
            </a:r>
            <a:r>
              <a:rPr lang="en-GB" sz="1400" dirty="0"/>
              <a:t> (3 M), 100 mV·s-1 for 8 cycles was performed in the absence of NH</a:t>
            </a:r>
            <a:r>
              <a:rPr lang="en-GB" sz="1400" baseline="-25000" dirty="0"/>
              <a:t>3</a:t>
            </a:r>
            <a:r>
              <a:rPr lang="en-GB" sz="1400" dirty="0"/>
              <a:t> gas.</a:t>
            </a:r>
            <a:br>
              <a:rPr lang="en-GB" sz="1400" dirty="0"/>
            </a:br>
            <a:endParaRPr lang="en-GB" sz="14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A2F42B0-BD02-5FDD-8F52-81B9EF68AC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770215"/>
              </p:ext>
            </p:extLst>
          </p:nvPr>
        </p:nvGraphicFramePr>
        <p:xfrm>
          <a:off x="1273011" y="1448594"/>
          <a:ext cx="4650456" cy="3559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9802155" imgH="7502581" progId="Origin95.Graph">
                  <p:embed/>
                </p:oleObj>
              </mc:Choice>
              <mc:Fallback>
                <p:oleObj name="Graph" r:id="rId2" imgW="9802155" imgH="7502581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3011" y="1448594"/>
                        <a:ext cx="4650456" cy="3559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5BAB23F-F398-6FE1-C426-031A4BD80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59" y="5130020"/>
            <a:ext cx="2807835" cy="92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3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DA0A-D3B4-6691-C21C-69F75433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a) </a:t>
            </a:r>
            <a:r>
              <a:rPr lang="lt-LT" dirty="0">
                <a:highlight>
                  <a:srgbClr val="FFFF00"/>
                </a:highlight>
              </a:rPr>
              <a:t>AmOR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A2C4-B6C2-37C1-40F6-B6089D98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GDE  arrangement in the flow-through cell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67533-9B35-2C80-B948-5443555BF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54" y="2593819"/>
            <a:ext cx="7280590" cy="389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8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C49530-C024-9A68-36D2-8575D07E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92" y="3751544"/>
            <a:ext cx="1663656" cy="287178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563153-54AC-88D5-A1BC-9EF9586E7F6C}"/>
              </a:ext>
            </a:extLst>
          </p:cNvPr>
          <p:cNvSpPr/>
          <p:nvPr/>
        </p:nvSpPr>
        <p:spPr>
          <a:xfrm>
            <a:off x="6068177" y="221456"/>
            <a:ext cx="5965031" cy="5236369"/>
          </a:xfrm>
          <a:prstGeom prst="roundRect">
            <a:avLst>
              <a:gd name="adj" fmla="val 38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E7974-E53E-4976-6680-1552E3409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577"/>
            <a:ext cx="47731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CoNiFeMoCr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F689C-B491-BBB8-205D-3B5AEF7E94BA}"/>
              </a:ext>
            </a:extLst>
          </p:cNvPr>
          <p:cNvSpPr txBox="1"/>
          <p:nvPr/>
        </p:nvSpPr>
        <p:spPr>
          <a:xfrm>
            <a:off x="6236208" y="355346"/>
            <a:ext cx="56289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Details</a:t>
            </a:r>
          </a:p>
          <a:p>
            <a:r>
              <a:rPr lang="en-GB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</a:t>
            </a: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Aimed composition:</a:t>
            </a:r>
            <a:r>
              <a:rPr lang="en-GB" sz="1400" dirty="0"/>
              <a:t> Co</a:t>
            </a:r>
            <a:r>
              <a:rPr lang="en-GB" sz="1400" baseline="-25000" dirty="0"/>
              <a:t>20</a:t>
            </a:r>
            <a:r>
              <a:rPr lang="en-GB" sz="1400" dirty="0"/>
              <a:t>Ni</a:t>
            </a:r>
            <a:r>
              <a:rPr lang="en-GB" sz="1400" baseline="-25000" dirty="0"/>
              <a:t>20</a:t>
            </a:r>
            <a:r>
              <a:rPr lang="en-GB" sz="1400" dirty="0"/>
              <a:t>Fe</a:t>
            </a:r>
            <a:r>
              <a:rPr lang="en-GB" sz="1400" baseline="-25000" dirty="0"/>
              <a:t>20</a:t>
            </a:r>
            <a:r>
              <a:rPr lang="en-GB" sz="1400" dirty="0"/>
              <a:t>Mo</a:t>
            </a:r>
            <a:r>
              <a:rPr lang="en-GB" sz="1400" baseline="-25000" dirty="0"/>
              <a:t>20</a:t>
            </a:r>
            <a:r>
              <a:rPr lang="en-GB" sz="1400" dirty="0"/>
              <a:t>Cr</a:t>
            </a:r>
            <a:r>
              <a:rPr lang="en-GB" sz="1400" baseline="-25000" dirty="0"/>
              <a:t>20</a:t>
            </a:r>
            <a:r>
              <a:rPr lang="en-GB" sz="1400" dirty="0"/>
              <a:t>, ICP-MS confirmed: </a:t>
            </a:r>
            <a:r>
              <a:rPr lang="en-GB" sz="1400" b="0" i="0" dirty="0">
                <a:solidFill>
                  <a:srgbClr val="000000"/>
                </a:solidFill>
                <a:effectLst/>
              </a:rPr>
              <a:t>Co</a:t>
            </a:r>
            <a:r>
              <a:rPr lang="en-GB" sz="1400" b="0" i="0" baseline="-25000" dirty="0">
                <a:solidFill>
                  <a:srgbClr val="000000"/>
                </a:solidFill>
                <a:effectLst/>
              </a:rPr>
              <a:t>23</a:t>
            </a:r>
            <a:r>
              <a:rPr lang="en-GB" sz="1400" b="0" i="0" dirty="0">
                <a:solidFill>
                  <a:srgbClr val="000000"/>
                </a:solidFill>
                <a:effectLst/>
              </a:rPr>
              <a:t>Ni</a:t>
            </a:r>
            <a:r>
              <a:rPr lang="en-GB" sz="1400" b="0" i="0" baseline="-25000" dirty="0">
                <a:solidFill>
                  <a:srgbClr val="000000"/>
                </a:solidFill>
                <a:effectLst/>
              </a:rPr>
              <a:t>18</a:t>
            </a:r>
            <a:r>
              <a:rPr lang="en-GB" sz="1400" b="0" i="0" dirty="0">
                <a:solidFill>
                  <a:srgbClr val="000000"/>
                </a:solidFill>
                <a:effectLst/>
              </a:rPr>
              <a:t>Fe</a:t>
            </a:r>
            <a:r>
              <a:rPr lang="en-GB" sz="1400" b="0" i="0" baseline="-25000" dirty="0">
                <a:solidFill>
                  <a:srgbClr val="000000"/>
                </a:solidFill>
                <a:effectLst/>
              </a:rPr>
              <a:t>26</a:t>
            </a:r>
            <a:r>
              <a:rPr lang="en-GB" sz="1400" b="0" i="0" dirty="0">
                <a:solidFill>
                  <a:srgbClr val="000000"/>
                </a:solidFill>
                <a:effectLst/>
              </a:rPr>
              <a:t>Mo</a:t>
            </a:r>
            <a:r>
              <a:rPr lang="en-GB" sz="1400" b="0" i="0" baseline="-25000" dirty="0">
                <a:solidFill>
                  <a:srgbClr val="000000"/>
                </a:solidFill>
                <a:effectLst/>
              </a:rPr>
              <a:t>19</a:t>
            </a:r>
            <a:r>
              <a:rPr lang="en-GB" sz="1400" b="0" i="0" dirty="0">
                <a:solidFill>
                  <a:srgbClr val="000000"/>
                </a:solidFill>
                <a:effectLst/>
              </a:rPr>
              <a:t>Cr</a:t>
            </a:r>
            <a:r>
              <a:rPr lang="en-GB" sz="1400" b="0" i="0" baseline="-25000" dirty="0">
                <a:solidFill>
                  <a:srgbClr val="000000"/>
                </a:solidFill>
                <a:effectLst/>
              </a:rPr>
              <a:t>14</a:t>
            </a:r>
            <a:endParaRPr lang="en-GB" sz="1400" dirty="0"/>
          </a:p>
          <a:p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ii)</a:t>
            </a:r>
            <a:r>
              <a:rPr lang="en-GB" sz="1400" dirty="0"/>
              <a:t> Ni foam substrate, </a:t>
            </a:r>
            <a:r>
              <a:rPr lang="en-GB" sz="1400" dirty="0" err="1"/>
              <a:t>CoNiFeMoCr</a:t>
            </a:r>
            <a:r>
              <a:rPr lang="en-GB" sz="1400" dirty="0"/>
              <a:t> layer deposited by spray coating according to PVP/metal precursor spraying synthesis (https://doi.org/10.1002/anie.202218493)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iii) Catalyst morphology:</a:t>
            </a:r>
            <a:r>
              <a:rPr lang="en-GB" sz="1400" dirty="0"/>
              <a:t> SEM, TEM, XRD, ICP-MS (https://doi.org/10.1002/anie.202218493)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iv) Electrolyte: composition:</a:t>
            </a:r>
            <a:r>
              <a:rPr lang="en-GB" sz="1400" dirty="0"/>
              <a:t> 1M KOH; pH 13.9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v) Environment of experiment:</a:t>
            </a:r>
            <a:r>
              <a:rPr lang="en-GB" sz="1400" dirty="0"/>
              <a:t> room atmosphere, room temperature, rotation rate 1600 rpm (RDE).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vi) Reference electrode:</a:t>
            </a:r>
            <a:r>
              <a:rPr lang="en-GB" sz="1400" dirty="0"/>
              <a:t> Ag|AgCl|3M </a:t>
            </a:r>
            <a:r>
              <a:rPr lang="en-GB" sz="1400" dirty="0" err="1"/>
              <a:t>KCl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vii) Scan rate:</a:t>
            </a:r>
            <a:r>
              <a:rPr lang="en-GB" sz="1400" dirty="0"/>
              <a:t> 10 mV/s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viii) potential range:</a:t>
            </a:r>
            <a:r>
              <a:rPr lang="en-GB" sz="1400" dirty="0"/>
              <a:t> from -0.7 V to -1.6 V vs. Ag|AgCl|3M </a:t>
            </a:r>
            <a:r>
              <a:rPr lang="en-GB" sz="1400" dirty="0" err="1"/>
              <a:t>KCl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ix) IR correction/compensation: </a:t>
            </a:r>
            <a:r>
              <a:rPr lang="en-GB" sz="1400" dirty="0"/>
              <a:t>yes (file added)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x) Normalization procedure area: </a:t>
            </a:r>
            <a:r>
              <a:rPr lang="en-GB" sz="1400" dirty="0"/>
              <a:t>geometric area (0.1134 cm</a:t>
            </a:r>
            <a:r>
              <a:rPr lang="en-GB" sz="1400" baseline="30000" dirty="0"/>
              <a:t>2</a:t>
            </a:r>
            <a:r>
              <a:rPr lang="en-GB" sz="1400" dirty="0"/>
              <a:t>) is used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xi) publication reference: </a:t>
            </a:r>
            <a:r>
              <a:rPr lang="en-GB" sz="1400" dirty="0"/>
              <a:t>Figure S24 (https://doi.org/10.1002/anie.202218493)</a:t>
            </a:r>
            <a:br>
              <a:rPr lang="en-GB" sz="1400" dirty="0"/>
            </a:br>
            <a:r>
              <a:rPr lang="en-GB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xii) Any other additional information: </a:t>
            </a:r>
            <a:r>
              <a:rPr lang="en-GB" sz="1400" dirty="0"/>
              <a:t>Before LSV, conditioning procedure from -0.70 V to -1.60 V vs. </a:t>
            </a:r>
            <a:r>
              <a:rPr lang="en-GB" sz="1400" dirty="0" err="1"/>
              <a:t>Ag|AgCl|KCl</a:t>
            </a:r>
            <a:r>
              <a:rPr lang="en-GB" sz="1400" dirty="0"/>
              <a:t> (3 M) at 50 </a:t>
            </a:r>
            <a:r>
              <a:rPr lang="en-GB" sz="1400" dirty="0" err="1"/>
              <a:t>mV∙s</a:t>
            </a:r>
            <a:r>
              <a:rPr lang="en-GB" sz="1400" dirty="0"/>
              <a:t> -1 for 8 cycles, 1600 rpm was performed. To obtain reproducibility measurement repeated 4 times and average value was used.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C907265-7270-4820-3EFC-14F5EC680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564397"/>
              </p:ext>
            </p:extLst>
          </p:nvPr>
        </p:nvGraphicFramePr>
        <p:xfrm>
          <a:off x="1453625" y="1834357"/>
          <a:ext cx="4241758" cy="349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7821310" imgH="6436038" progId="Origin95.Graph">
                  <p:embed/>
                </p:oleObj>
              </mc:Choice>
              <mc:Fallback>
                <p:oleObj name="Graph" r:id="rId3" imgW="7821310" imgH="6436038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53625" y="1834357"/>
                        <a:ext cx="4241758" cy="349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313D9BE7-9743-9BD6-4F6F-70CF5EF8A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b) </a:t>
            </a:r>
            <a:r>
              <a:rPr lang="en-GB" dirty="0">
                <a:highlight>
                  <a:srgbClr val="00FFFF"/>
                </a:highlight>
              </a:rPr>
              <a:t>HER</a:t>
            </a:r>
          </a:p>
        </p:txBody>
      </p:sp>
    </p:spTree>
    <p:extLst>
      <p:ext uri="{BB962C8B-B14F-4D97-AF65-F5344CB8AC3E}">
        <p14:creationId xmlns:p14="http://schemas.microsoft.com/office/powerpoint/2010/main" val="2564381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Graph</vt:lpstr>
      <vt:lpstr>Virtual Electrochemist</vt:lpstr>
      <vt:lpstr>Electrochemistry data</vt:lpstr>
      <vt:lpstr>a) AmOR</vt:lpstr>
      <vt:lpstr>a) AmOR</vt:lpstr>
      <vt:lpstr>b) 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Cechanaviciute, Ieva</dc:creator>
  <cp:lastModifiedBy>Santana Santos, Carla</cp:lastModifiedBy>
  <cp:revision>9</cp:revision>
  <dcterms:created xsi:type="dcterms:W3CDTF">2025-10-05T08:29:59Z</dcterms:created>
  <dcterms:modified xsi:type="dcterms:W3CDTF">2025-10-13T13:49:08Z</dcterms:modified>
</cp:coreProperties>
</file>