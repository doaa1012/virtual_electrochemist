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26" r:id="rId4"/>
    <p:sldMasterId id="2147483739" r:id="rId5"/>
    <p:sldMasterId id="2147483856" r:id="rId6"/>
  </p:sldMasterIdLst>
  <p:notesMasterIdLst>
    <p:notesMasterId r:id="rId28"/>
  </p:notesMasterIdLst>
  <p:sldIdLst>
    <p:sldId id="256" r:id="rId7"/>
    <p:sldId id="257" r:id="rId8"/>
    <p:sldId id="300" r:id="rId9"/>
    <p:sldId id="323" r:id="rId10"/>
    <p:sldId id="324" r:id="rId11"/>
    <p:sldId id="325" r:id="rId12"/>
    <p:sldId id="326" r:id="rId13"/>
    <p:sldId id="335" r:id="rId14"/>
    <p:sldId id="327" r:id="rId15"/>
    <p:sldId id="333" r:id="rId16"/>
    <p:sldId id="328" r:id="rId17"/>
    <p:sldId id="329" r:id="rId18"/>
    <p:sldId id="330" r:id="rId19"/>
    <p:sldId id="331" r:id="rId20"/>
    <p:sldId id="332" r:id="rId21"/>
    <p:sldId id="336" r:id="rId22"/>
    <p:sldId id="337" r:id="rId23"/>
    <p:sldId id="338" r:id="rId24"/>
    <p:sldId id="339" r:id="rId25"/>
    <p:sldId id="340" r:id="rId26"/>
    <p:sldId id="318" r:id="rId27"/>
  </p:sldIdLst>
  <p:sldSz cx="12192000" cy="6858000"/>
  <p:notesSz cx="7772400" cy="100584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7FF3"/>
    <a:srgbClr val="B729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aa Mahmoud" userId="20f261c2752c3515" providerId="LiveId" clId="{1F473177-2F31-4927-B0DD-933929AE797D}"/>
    <pc:docChg chg="modSld">
      <pc:chgData name="Doaa Mahmoud" userId="20f261c2752c3515" providerId="LiveId" clId="{1F473177-2F31-4927-B0DD-933929AE797D}" dt="2024-10-08T09:20:09.795" v="1" actId="207"/>
      <pc:docMkLst>
        <pc:docMk/>
      </pc:docMkLst>
      <pc:sldChg chg="modSp mod">
        <pc:chgData name="Doaa Mahmoud" userId="20f261c2752c3515" providerId="LiveId" clId="{1F473177-2F31-4927-B0DD-933929AE797D}" dt="2024-10-08T09:20:09.795" v="1" actId="207"/>
        <pc:sldMkLst>
          <pc:docMk/>
          <pc:sldMk cId="0" sldId="258"/>
        </pc:sldMkLst>
        <pc:spChg chg="mod">
          <ac:chgData name="Doaa Mahmoud" userId="20f261c2752c3515" providerId="LiveId" clId="{1F473177-2F31-4927-B0DD-933929AE797D}" dt="2024-10-08T09:20:09.795" v="1" actId="207"/>
          <ac:spMkLst>
            <pc:docMk/>
            <pc:sldMk cId="0" sldId="258"/>
            <ac:spMk id="8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841FE962-3B43-427B-97E1-A183BD9B3BDE}" type="datetimeFigureOut">
              <a:rPr lang="en-US" smtClean="0"/>
              <a:t>2/18/2026</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89AE66F-908E-4EEC-846B-1A26344AFE75}" type="slidenum">
              <a:rPr lang="en-US" smtClean="0"/>
              <a:t>‹#›</a:t>
            </a:fld>
            <a:endParaRPr lang="en-US"/>
          </a:p>
        </p:txBody>
      </p:sp>
    </p:spTree>
    <p:extLst>
      <p:ext uri="{BB962C8B-B14F-4D97-AF65-F5344CB8AC3E}">
        <p14:creationId xmlns:p14="http://schemas.microsoft.com/office/powerpoint/2010/main" val="889394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AE66F-908E-4EEC-846B-1A26344AFE75}" type="slidenum">
              <a:rPr lang="en-US" smtClean="0"/>
              <a:t>3</a:t>
            </a:fld>
            <a:endParaRPr lang="en-US"/>
          </a:p>
        </p:txBody>
      </p:sp>
    </p:spTree>
    <p:extLst>
      <p:ext uri="{BB962C8B-B14F-4D97-AF65-F5344CB8AC3E}">
        <p14:creationId xmlns:p14="http://schemas.microsoft.com/office/powerpoint/2010/main" val="328513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36988-4922-DB39-8F57-F38A3C87A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7A27-EF60-16E1-407B-9DC60E1F5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1194D-13B7-CA28-8531-601B5CCEFE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6C0789-460D-65FF-0B22-38D89D65FB63}"/>
              </a:ext>
            </a:extLst>
          </p:cNvPr>
          <p:cNvSpPr>
            <a:spLocks noGrp="1"/>
          </p:cNvSpPr>
          <p:nvPr>
            <p:ph type="sldNum" sz="quarter" idx="5"/>
          </p:nvPr>
        </p:nvSpPr>
        <p:spPr/>
        <p:txBody>
          <a:bodyPr/>
          <a:lstStyle/>
          <a:p>
            <a:fld id="{989AE66F-908E-4EEC-846B-1A26344AFE75}" type="slidenum">
              <a:rPr lang="en-US" smtClean="0"/>
              <a:t>4</a:t>
            </a:fld>
            <a:endParaRPr lang="en-US"/>
          </a:p>
        </p:txBody>
      </p:sp>
    </p:spTree>
    <p:extLst>
      <p:ext uri="{BB962C8B-B14F-4D97-AF65-F5344CB8AC3E}">
        <p14:creationId xmlns:p14="http://schemas.microsoft.com/office/powerpoint/2010/main" val="4203227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E693-85A2-2B0D-F5BF-E06D08751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301A7-293E-97B3-9CD6-1EF9AA3E9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05BB7-0B00-586D-773E-B845C5C71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DD571B-0E00-34F2-1DEB-AE57C31B21FB}"/>
              </a:ext>
            </a:extLst>
          </p:cNvPr>
          <p:cNvSpPr>
            <a:spLocks noGrp="1"/>
          </p:cNvSpPr>
          <p:nvPr>
            <p:ph type="sldNum" sz="quarter" idx="5"/>
          </p:nvPr>
        </p:nvSpPr>
        <p:spPr/>
        <p:txBody>
          <a:bodyPr/>
          <a:lstStyle/>
          <a:p>
            <a:fld id="{989AE66F-908E-4EEC-846B-1A26344AFE75}" type="slidenum">
              <a:rPr lang="en-US" smtClean="0"/>
              <a:t>5</a:t>
            </a:fld>
            <a:endParaRPr lang="en-US"/>
          </a:p>
        </p:txBody>
      </p:sp>
    </p:spTree>
    <p:extLst>
      <p:ext uri="{BB962C8B-B14F-4D97-AF65-F5344CB8AC3E}">
        <p14:creationId xmlns:p14="http://schemas.microsoft.com/office/powerpoint/2010/main" val="3538428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73AA-8D12-69C5-A0CC-7CC8E0D83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583E8-4BB5-C069-0818-A219B6CE7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1AA3F-671A-8896-9F0E-80CB8AB077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1C60E5-959F-DFEF-DBD8-86EC3AF58870}"/>
              </a:ext>
            </a:extLst>
          </p:cNvPr>
          <p:cNvSpPr>
            <a:spLocks noGrp="1"/>
          </p:cNvSpPr>
          <p:nvPr>
            <p:ph type="sldNum" sz="quarter" idx="5"/>
          </p:nvPr>
        </p:nvSpPr>
        <p:spPr/>
        <p:txBody>
          <a:bodyPr/>
          <a:lstStyle/>
          <a:p>
            <a:fld id="{989AE66F-908E-4EEC-846B-1A26344AFE75}" type="slidenum">
              <a:rPr lang="en-US" smtClean="0"/>
              <a:t>6</a:t>
            </a:fld>
            <a:endParaRPr lang="en-US"/>
          </a:p>
        </p:txBody>
      </p:sp>
    </p:spTree>
    <p:extLst>
      <p:ext uri="{BB962C8B-B14F-4D97-AF65-F5344CB8AC3E}">
        <p14:creationId xmlns:p14="http://schemas.microsoft.com/office/powerpoint/2010/main" val="2310801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412B-F4F5-692F-7210-1468E2F99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3A9C0-41EB-76DC-9D0D-E26CF042F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E66D3-E3A3-C9BB-DE05-E2DA02457E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A01E24-2C1B-EEDC-1D07-F6389E2FE1FD}"/>
              </a:ext>
            </a:extLst>
          </p:cNvPr>
          <p:cNvSpPr>
            <a:spLocks noGrp="1"/>
          </p:cNvSpPr>
          <p:nvPr>
            <p:ph type="sldNum" sz="quarter" idx="5"/>
          </p:nvPr>
        </p:nvSpPr>
        <p:spPr/>
        <p:txBody>
          <a:bodyPr/>
          <a:lstStyle/>
          <a:p>
            <a:fld id="{989AE66F-908E-4EEC-846B-1A26344AFE75}" type="slidenum">
              <a:rPr lang="en-US" smtClean="0"/>
              <a:t>7</a:t>
            </a:fld>
            <a:endParaRPr lang="en-US"/>
          </a:p>
        </p:txBody>
      </p:sp>
    </p:spTree>
    <p:extLst>
      <p:ext uri="{BB962C8B-B14F-4D97-AF65-F5344CB8AC3E}">
        <p14:creationId xmlns:p14="http://schemas.microsoft.com/office/powerpoint/2010/main" val="893000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FE232-0BE4-1408-12A8-28304DADF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F1725-81BF-42A9-B34D-C0E9CF2FF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C36E4-2482-4506-9834-8A61CD2AF1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6F363-2BCC-75C3-E692-14286C39D5C1}"/>
              </a:ext>
            </a:extLst>
          </p:cNvPr>
          <p:cNvSpPr>
            <a:spLocks noGrp="1"/>
          </p:cNvSpPr>
          <p:nvPr>
            <p:ph type="sldNum" sz="quarter" idx="5"/>
          </p:nvPr>
        </p:nvSpPr>
        <p:spPr/>
        <p:txBody>
          <a:bodyPr/>
          <a:lstStyle/>
          <a:p>
            <a:fld id="{989AE66F-908E-4EEC-846B-1A26344AFE75}" type="slidenum">
              <a:rPr lang="en-US" smtClean="0"/>
              <a:t>8</a:t>
            </a:fld>
            <a:endParaRPr lang="en-US"/>
          </a:p>
        </p:txBody>
      </p:sp>
    </p:spTree>
    <p:extLst>
      <p:ext uri="{BB962C8B-B14F-4D97-AF65-F5344CB8AC3E}">
        <p14:creationId xmlns:p14="http://schemas.microsoft.com/office/powerpoint/2010/main" val="992699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6CBB-5089-5C23-A07E-33E98275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63E64-6526-9377-5F19-F97FF25FD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3B7F9-B8A3-1979-4797-A1F6874BC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3E1192-2F39-AE9A-4523-43AF9E58D7FD}"/>
              </a:ext>
            </a:extLst>
          </p:cNvPr>
          <p:cNvSpPr>
            <a:spLocks noGrp="1"/>
          </p:cNvSpPr>
          <p:nvPr>
            <p:ph type="sldNum" sz="quarter" idx="5"/>
          </p:nvPr>
        </p:nvSpPr>
        <p:spPr/>
        <p:txBody>
          <a:bodyPr/>
          <a:lstStyle/>
          <a:p>
            <a:fld id="{989AE66F-908E-4EEC-846B-1A26344AFE75}" type="slidenum">
              <a:rPr lang="en-US" smtClean="0"/>
              <a:t>9</a:t>
            </a:fld>
            <a:endParaRPr lang="en-US"/>
          </a:p>
        </p:txBody>
      </p:sp>
    </p:spTree>
    <p:extLst>
      <p:ext uri="{BB962C8B-B14F-4D97-AF65-F5344CB8AC3E}">
        <p14:creationId xmlns:p14="http://schemas.microsoft.com/office/powerpoint/2010/main" val="2727133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A9CB2-7831-20D5-9681-F2E6F6C60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51CEA-57DB-D4B2-B406-12270B435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8B7B6-6667-3C66-8332-3645DF861C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E7F98-1163-2982-51AF-CCE2264E869E}"/>
              </a:ext>
            </a:extLst>
          </p:cNvPr>
          <p:cNvSpPr>
            <a:spLocks noGrp="1"/>
          </p:cNvSpPr>
          <p:nvPr>
            <p:ph type="sldNum" sz="quarter" idx="5"/>
          </p:nvPr>
        </p:nvSpPr>
        <p:spPr/>
        <p:txBody>
          <a:bodyPr/>
          <a:lstStyle/>
          <a:p>
            <a:fld id="{989AE66F-908E-4EEC-846B-1A26344AFE75}" type="slidenum">
              <a:rPr lang="en-US" smtClean="0"/>
              <a:t>10</a:t>
            </a:fld>
            <a:endParaRPr lang="en-US"/>
          </a:p>
        </p:txBody>
      </p:sp>
    </p:spTree>
    <p:extLst>
      <p:ext uri="{BB962C8B-B14F-4D97-AF65-F5344CB8AC3E}">
        <p14:creationId xmlns:p14="http://schemas.microsoft.com/office/powerpoint/2010/main" val="3978536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22C2E-4B26-9E36-00BE-A5BF7A79A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57CF9-77A8-E42E-466F-AA3B4FF20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98673-0E21-24EB-C3BF-C24FCF847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CD2F5E-58FA-5C2C-13FB-8E9AA0ADFAC2}"/>
              </a:ext>
            </a:extLst>
          </p:cNvPr>
          <p:cNvSpPr>
            <a:spLocks noGrp="1"/>
          </p:cNvSpPr>
          <p:nvPr>
            <p:ph type="sldNum" sz="quarter" idx="5"/>
          </p:nvPr>
        </p:nvSpPr>
        <p:spPr/>
        <p:txBody>
          <a:bodyPr/>
          <a:lstStyle/>
          <a:p>
            <a:fld id="{989AE66F-908E-4EEC-846B-1A26344AFE75}" type="slidenum">
              <a:rPr lang="en-US" smtClean="0"/>
              <a:t>11</a:t>
            </a:fld>
            <a:endParaRPr lang="en-US"/>
          </a:p>
        </p:txBody>
      </p:sp>
    </p:spTree>
    <p:extLst>
      <p:ext uri="{BB962C8B-B14F-4D97-AF65-F5344CB8AC3E}">
        <p14:creationId xmlns:p14="http://schemas.microsoft.com/office/powerpoint/2010/main" val="2661667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C503-DF72-53C8-1B88-B275ADBE4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8F1DF-3576-E2B3-A9C6-061D6787D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F51EC-08ED-B4DA-9FF6-50B0D7C4F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94124-2AFB-8679-CF34-5EEBB569B433}"/>
              </a:ext>
            </a:extLst>
          </p:cNvPr>
          <p:cNvSpPr>
            <a:spLocks noGrp="1"/>
          </p:cNvSpPr>
          <p:nvPr>
            <p:ph type="sldNum" sz="quarter" idx="5"/>
          </p:nvPr>
        </p:nvSpPr>
        <p:spPr/>
        <p:txBody>
          <a:bodyPr/>
          <a:lstStyle/>
          <a:p>
            <a:fld id="{989AE66F-908E-4EEC-846B-1A26344AFE75}" type="slidenum">
              <a:rPr lang="en-US" smtClean="0"/>
              <a:t>12</a:t>
            </a:fld>
            <a:endParaRPr lang="en-US"/>
          </a:p>
        </p:txBody>
      </p:sp>
    </p:spTree>
    <p:extLst>
      <p:ext uri="{BB962C8B-B14F-4D97-AF65-F5344CB8AC3E}">
        <p14:creationId xmlns:p14="http://schemas.microsoft.com/office/powerpoint/2010/main" val="256412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B1F4-EE84-A0A1-7B72-14807AE84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49A5E-9E94-0378-F17F-18362B809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ECE6D-9ABE-F643-44F2-E283D7256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2FFFC-D487-B683-66BC-C861C744AB16}"/>
              </a:ext>
            </a:extLst>
          </p:cNvPr>
          <p:cNvSpPr>
            <a:spLocks noGrp="1"/>
          </p:cNvSpPr>
          <p:nvPr>
            <p:ph type="sldNum" sz="quarter" idx="5"/>
          </p:nvPr>
        </p:nvSpPr>
        <p:spPr/>
        <p:txBody>
          <a:bodyPr/>
          <a:lstStyle/>
          <a:p>
            <a:fld id="{989AE66F-908E-4EEC-846B-1A26344AFE75}" type="slidenum">
              <a:rPr lang="en-US" smtClean="0"/>
              <a:t>13</a:t>
            </a:fld>
            <a:endParaRPr lang="en-US"/>
          </a:p>
        </p:txBody>
      </p:sp>
    </p:spTree>
    <p:extLst>
      <p:ext uri="{BB962C8B-B14F-4D97-AF65-F5344CB8AC3E}">
        <p14:creationId xmlns:p14="http://schemas.microsoft.com/office/powerpoint/2010/main" val="276391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F243-CF38-B073-2037-F184268DB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5BCF4-A967-0EEB-51F7-60D8762732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26D70-ED32-6AAA-EE5E-7AA086361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3F232-93DB-DC0E-7E9B-0556804A1846}"/>
              </a:ext>
            </a:extLst>
          </p:cNvPr>
          <p:cNvSpPr>
            <a:spLocks noGrp="1"/>
          </p:cNvSpPr>
          <p:nvPr>
            <p:ph type="sldNum" sz="quarter" idx="5"/>
          </p:nvPr>
        </p:nvSpPr>
        <p:spPr/>
        <p:txBody>
          <a:bodyPr/>
          <a:lstStyle/>
          <a:p>
            <a:fld id="{989AE66F-908E-4EEC-846B-1A26344AFE75}" type="slidenum">
              <a:rPr lang="en-US" smtClean="0"/>
              <a:t>14</a:t>
            </a:fld>
            <a:endParaRPr lang="en-US"/>
          </a:p>
        </p:txBody>
      </p:sp>
    </p:spTree>
    <p:extLst>
      <p:ext uri="{BB962C8B-B14F-4D97-AF65-F5344CB8AC3E}">
        <p14:creationId xmlns:p14="http://schemas.microsoft.com/office/powerpoint/2010/main" val="400000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77BF-B6E7-2CCD-605F-DB8B699C7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DC7A9-EF0B-804F-91FA-9DCF9F940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A9568-AAD2-FF8C-30D6-315253B19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CC353-0197-2F91-8C8F-638B99DDB2A5}"/>
              </a:ext>
            </a:extLst>
          </p:cNvPr>
          <p:cNvSpPr>
            <a:spLocks noGrp="1"/>
          </p:cNvSpPr>
          <p:nvPr>
            <p:ph type="sldNum" sz="quarter" idx="5"/>
          </p:nvPr>
        </p:nvSpPr>
        <p:spPr/>
        <p:txBody>
          <a:bodyPr/>
          <a:lstStyle/>
          <a:p>
            <a:fld id="{989AE66F-908E-4EEC-846B-1A26344AFE75}" type="slidenum">
              <a:rPr lang="en-US" smtClean="0"/>
              <a:t>15</a:t>
            </a:fld>
            <a:endParaRPr lang="en-US"/>
          </a:p>
        </p:txBody>
      </p:sp>
    </p:spTree>
    <p:extLst>
      <p:ext uri="{BB962C8B-B14F-4D97-AF65-F5344CB8AC3E}">
        <p14:creationId xmlns:p14="http://schemas.microsoft.com/office/powerpoint/2010/main" val="368785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383B-8B05-D684-6554-F854EE01E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47E2-4E64-F90F-6AFF-88B22418C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CE28B-1D5C-63AF-33D4-3B69FC1F3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591DFC-8769-4545-CD51-A8AC357802CD}"/>
              </a:ext>
            </a:extLst>
          </p:cNvPr>
          <p:cNvSpPr>
            <a:spLocks noGrp="1"/>
          </p:cNvSpPr>
          <p:nvPr>
            <p:ph type="sldNum" sz="quarter" idx="5"/>
          </p:nvPr>
        </p:nvSpPr>
        <p:spPr/>
        <p:txBody>
          <a:bodyPr/>
          <a:lstStyle/>
          <a:p>
            <a:fld id="{989AE66F-908E-4EEC-846B-1A26344AFE75}" type="slidenum">
              <a:rPr lang="en-US" smtClean="0"/>
              <a:t>16</a:t>
            </a:fld>
            <a:endParaRPr lang="en-US"/>
          </a:p>
        </p:txBody>
      </p:sp>
    </p:spTree>
    <p:extLst>
      <p:ext uri="{BB962C8B-B14F-4D97-AF65-F5344CB8AC3E}">
        <p14:creationId xmlns:p14="http://schemas.microsoft.com/office/powerpoint/2010/main" val="2115221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77EBF-535B-39AA-6BF1-835D3ED40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CE840-D142-7474-5BA5-662C22ADF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5FFAB-8D5F-8E37-1DD1-5F835EEF8C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2E282-1C9A-143F-AE98-542DB181991A}"/>
              </a:ext>
            </a:extLst>
          </p:cNvPr>
          <p:cNvSpPr>
            <a:spLocks noGrp="1"/>
          </p:cNvSpPr>
          <p:nvPr>
            <p:ph type="sldNum" sz="quarter" idx="5"/>
          </p:nvPr>
        </p:nvSpPr>
        <p:spPr/>
        <p:txBody>
          <a:bodyPr/>
          <a:lstStyle/>
          <a:p>
            <a:fld id="{989AE66F-908E-4EEC-846B-1A26344AFE75}" type="slidenum">
              <a:rPr lang="en-US" smtClean="0"/>
              <a:t>17</a:t>
            </a:fld>
            <a:endParaRPr lang="en-US"/>
          </a:p>
        </p:txBody>
      </p:sp>
    </p:spTree>
    <p:extLst>
      <p:ext uri="{BB962C8B-B14F-4D97-AF65-F5344CB8AC3E}">
        <p14:creationId xmlns:p14="http://schemas.microsoft.com/office/powerpoint/2010/main" val="202636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CCCB-F6D0-76AF-F919-C4262E82F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C4DAD-DCA2-A710-E5FD-4A647BD5E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4E18E-D827-B78C-58CA-4DFB47BEDF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81A7E-3A27-3B8B-31E6-5BBE7B4A1FD1}"/>
              </a:ext>
            </a:extLst>
          </p:cNvPr>
          <p:cNvSpPr>
            <a:spLocks noGrp="1"/>
          </p:cNvSpPr>
          <p:nvPr>
            <p:ph type="sldNum" sz="quarter" idx="5"/>
          </p:nvPr>
        </p:nvSpPr>
        <p:spPr/>
        <p:txBody>
          <a:bodyPr/>
          <a:lstStyle/>
          <a:p>
            <a:fld id="{989AE66F-908E-4EEC-846B-1A26344AFE75}" type="slidenum">
              <a:rPr lang="en-US" smtClean="0"/>
              <a:t>18</a:t>
            </a:fld>
            <a:endParaRPr lang="en-US"/>
          </a:p>
        </p:txBody>
      </p:sp>
    </p:spTree>
    <p:extLst>
      <p:ext uri="{BB962C8B-B14F-4D97-AF65-F5344CB8AC3E}">
        <p14:creationId xmlns:p14="http://schemas.microsoft.com/office/powerpoint/2010/main" val="2680310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24AF0-6AF6-9252-0CBA-5E5641F1A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6DCBA-810C-37B9-185F-430C3AD67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F4E89-F2C0-DB3E-CE63-62A2A9094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8B9762-C200-4A5F-7DBF-8C38E2EAFE88}"/>
              </a:ext>
            </a:extLst>
          </p:cNvPr>
          <p:cNvSpPr>
            <a:spLocks noGrp="1"/>
          </p:cNvSpPr>
          <p:nvPr>
            <p:ph type="sldNum" sz="quarter" idx="5"/>
          </p:nvPr>
        </p:nvSpPr>
        <p:spPr/>
        <p:txBody>
          <a:bodyPr/>
          <a:lstStyle/>
          <a:p>
            <a:fld id="{989AE66F-908E-4EEC-846B-1A26344AFE75}" type="slidenum">
              <a:rPr lang="en-US" smtClean="0"/>
              <a:t>19</a:t>
            </a:fld>
            <a:endParaRPr lang="en-US"/>
          </a:p>
        </p:txBody>
      </p:sp>
    </p:spTree>
    <p:extLst>
      <p:ext uri="{BB962C8B-B14F-4D97-AF65-F5344CB8AC3E}">
        <p14:creationId xmlns:p14="http://schemas.microsoft.com/office/powerpoint/2010/main" val="3466941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CB037-CA87-9F12-82FB-D3AF10319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1501E-AB80-B824-D992-E05167FA9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F44D3-5BD2-28F2-FD5D-55BC6E38FD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A275E2-A276-B0A1-A52D-6BC428BE59B8}"/>
              </a:ext>
            </a:extLst>
          </p:cNvPr>
          <p:cNvSpPr>
            <a:spLocks noGrp="1"/>
          </p:cNvSpPr>
          <p:nvPr>
            <p:ph type="sldNum" sz="quarter" idx="5"/>
          </p:nvPr>
        </p:nvSpPr>
        <p:spPr/>
        <p:txBody>
          <a:bodyPr/>
          <a:lstStyle/>
          <a:p>
            <a:fld id="{989AE66F-908E-4EEC-846B-1A26344AFE75}" type="slidenum">
              <a:rPr lang="en-US" smtClean="0"/>
              <a:t>20</a:t>
            </a:fld>
            <a:endParaRPr lang="en-US"/>
          </a:p>
        </p:txBody>
      </p:sp>
    </p:spTree>
    <p:extLst>
      <p:ext uri="{BB962C8B-B14F-4D97-AF65-F5344CB8AC3E}">
        <p14:creationId xmlns:p14="http://schemas.microsoft.com/office/powerpoint/2010/main" val="2650387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7"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9"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1"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2"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7"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8"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2"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6"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8"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9"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41"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2"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3"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4"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46"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7"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8"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9"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50"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51"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3"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5"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7"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68"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3"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4"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6"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7"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8"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2"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4"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85"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7"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8"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9"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90"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92"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3"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4"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5"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6"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7"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06"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08"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11"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3"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5"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16"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17"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9"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20"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1"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23"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4"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5"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27"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128"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3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2"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3"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35"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6"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7"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8"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9"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40"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79"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1"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3"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84"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8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6"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8"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89"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90"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92"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93"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4"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9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7"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8"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0"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01"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3"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4"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5"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6"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8"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09"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0"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1"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2"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3"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3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1"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3"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3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5"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36"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3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38"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3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1"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42"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4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4"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4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6"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4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8"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9"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0"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5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52"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53"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55"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6"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7"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8"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60"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1"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2"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3"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4"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5"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2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7"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2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9"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3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31"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32"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3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34"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3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3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37"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38"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3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4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2"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4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4"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6"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8"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749"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51"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2"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3"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4"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56"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7"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8"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9"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60"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61"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jpeg"/><Relationship Id="rId3" Type="http://schemas.openxmlformats.org/officeDocument/2006/relationships/slideLayout" Target="../slideLayouts/slideLayout3.xml"/><Relationship Id="rId21" Type="http://schemas.openxmlformats.org/officeDocument/2006/relationships/image" Target="../media/image8.gi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0.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9.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18" Type="http://schemas.openxmlformats.org/officeDocument/2006/relationships/image" Target="../media/image5.jpeg"/><Relationship Id="rId3" Type="http://schemas.openxmlformats.org/officeDocument/2006/relationships/slideLayout" Target="../slideLayouts/slideLayout51.xml"/><Relationship Id="rId21" Type="http://schemas.openxmlformats.org/officeDocument/2006/relationships/image" Target="../media/image8.gif"/><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4.png"/><Relationship Id="rId2" Type="http://schemas.openxmlformats.org/officeDocument/2006/relationships/slideLayout" Target="../slideLayouts/slideLayout50.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2.jpeg"/><Relationship Id="rId10" Type="http://schemas.openxmlformats.org/officeDocument/2006/relationships/slideLayout" Target="../slideLayouts/slideLayout58.xml"/><Relationship Id="rId19" Type="http://schemas.openxmlformats.org/officeDocument/2006/relationships/image" Target="../media/image6.png"/><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6" Type="http://schemas.openxmlformats.org/officeDocument/2006/relationships/image" Target="../media/image1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image" Target="../media/image12.png"/><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Group 1"/>
          <p:cNvGrpSpPr/>
          <p:nvPr/>
        </p:nvGrpSpPr>
        <p:grpSpPr>
          <a:xfrm>
            <a:off x="97560" y="6209280"/>
            <a:ext cx="1758600" cy="630360"/>
            <a:chOff x="97560" y="6209280"/>
            <a:chExt cx="1758600" cy="630360"/>
          </a:xfrm>
        </p:grpSpPr>
        <p:pic>
          <p:nvPicPr>
            <p:cNvPr id="17" name="Grafik 3"/>
            <p:cNvPicPr/>
            <p:nvPr/>
          </p:nvPicPr>
          <p:blipFill>
            <a:blip r:embed="rId14"/>
            <a:srcRect b="20155"/>
            <a:stretch/>
          </p:blipFill>
          <p:spPr>
            <a:xfrm>
              <a:off x="97560" y="6209280"/>
              <a:ext cx="1052640" cy="630360"/>
            </a:xfrm>
            <a:prstGeom prst="rect">
              <a:avLst/>
            </a:prstGeom>
            <a:ln>
              <a:noFill/>
            </a:ln>
          </p:spPr>
        </p:pic>
        <p:sp>
          <p:nvSpPr>
            <p:cNvPr id="2"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3" name="Line 3"/>
          <p:cNvCxnSpPr/>
          <p:nvPr/>
        </p:nvCxnSpPr>
        <p:spPr>
          <a:xfrm>
            <a:off x="-8640" y="6104520"/>
            <a:ext cx="12200760" cy="360"/>
          </a:xfrm>
          <a:prstGeom prst="straightConnector1">
            <a:avLst/>
          </a:prstGeom>
          <a:ln w="19080">
            <a:solidFill>
              <a:srgbClr val="A485CE"/>
            </a:solidFill>
            <a:miter/>
          </a:ln>
        </p:spPr>
      </p:cxnSp>
      <p:pic>
        <p:nvPicPr>
          <p:cNvPr id="4" name="Grafik 19" descr="Ein Bild, das Entwurf, Lineart, Zeichnung, Clipart enthält.&#10;&#10;Automatisch generierte Beschreibung"/>
          <p:cNvPicPr/>
          <p:nvPr/>
        </p:nvPicPr>
        <p:blipFill>
          <a:blip r:embed="rId15"/>
          <a:stretch/>
        </p:blipFill>
        <p:spPr>
          <a:xfrm>
            <a:off x="2091960" y="6091560"/>
            <a:ext cx="789120" cy="748440"/>
          </a:xfrm>
          <a:prstGeom prst="rect">
            <a:avLst/>
          </a:prstGeom>
          <a:ln>
            <a:noFill/>
          </a:ln>
        </p:spPr>
      </p:pic>
      <p:sp>
        <p:nvSpPr>
          <p:cNvPr id="5" name="CustomShape 4"/>
          <p:cNvSpPr/>
          <p:nvPr/>
        </p:nvSpPr>
        <p:spPr>
          <a:xfrm>
            <a:off x="5405760" y="164520"/>
            <a:ext cx="4876200" cy="1496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10000"/>
              </a:lnSpc>
            </a:pPr>
            <a:r>
              <a:rPr lang="en-US" sz="2100" b="0" strike="noStrike" spc="-1">
                <a:solidFill>
                  <a:srgbClr val="262626"/>
                </a:solidFill>
                <a:latin typeface="Futura Bk BT"/>
                <a:ea typeface="Source Sans Pro"/>
              </a:rPr>
              <a:t>Atomic-scale understanding and design of multifunctional compositionally complex solid solution surfaces</a:t>
            </a:r>
            <a:endParaRPr lang="en-US" sz="2100" b="0" strike="noStrike" spc="-1">
              <a:solidFill>
                <a:srgbClr val="45ACDF"/>
              </a:solidFill>
              <a:latin typeface="Arial"/>
            </a:endParaRPr>
          </a:p>
        </p:txBody>
      </p:sp>
      <p:pic>
        <p:nvPicPr>
          <p:cNvPr id="6" name="Grafik 14"/>
          <p:cNvPicPr/>
          <p:nvPr/>
        </p:nvPicPr>
        <p:blipFill>
          <a:blip r:embed="rId16"/>
          <a:srcRect t="-4718" b="-5898"/>
          <a:stretch/>
        </p:blipFill>
        <p:spPr>
          <a:xfrm>
            <a:off x="10653120" y="235080"/>
            <a:ext cx="1298520" cy="1077840"/>
          </a:xfrm>
          <a:prstGeom prst="rect">
            <a:avLst/>
          </a:prstGeom>
          <a:ln>
            <a:noFill/>
          </a:ln>
        </p:spPr>
      </p:pic>
      <p:pic>
        <p:nvPicPr>
          <p:cNvPr id="7" name="Grafik 3" descr="Ein Bild, das Text, Schrift, Screenshot, Grafiken enthält.&#10;&#10;Automatisch generierte Beschreibung"/>
          <p:cNvPicPr/>
          <p:nvPr/>
        </p:nvPicPr>
        <p:blipFill>
          <a:blip r:embed="rId17"/>
          <a:stretch/>
        </p:blipFill>
        <p:spPr>
          <a:xfrm>
            <a:off x="7744680" y="6234480"/>
            <a:ext cx="2204640" cy="462600"/>
          </a:xfrm>
          <a:prstGeom prst="rect">
            <a:avLst/>
          </a:prstGeom>
          <a:ln>
            <a:noFill/>
          </a:ln>
        </p:spPr>
      </p:pic>
      <p:sp>
        <p:nvSpPr>
          <p:cNvPr id="8" name="PlaceHolder 5"/>
          <p:cNvSpPr>
            <a:spLocks noGrp="1"/>
          </p:cNvSpPr>
          <p:nvPr>
            <p:ph type="body"/>
          </p:nvPr>
        </p:nvSpPr>
        <p:spPr>
          <a:xfrm>
            <a:off x="-5760" y="0"/>
            <a:ext cx="4209840" cy="5762160"/>
          </a:xfrm>
          <a:prstGeom prst="rect">
            <a:avLst/>
          </a:prstGeom>
        </p:spPr>
        <p:txBody>
          <a:bodyPr lIns="90000" tIns="45000" rIns="90000" bIns="45000">
            <a:noAutofit/>
          </a:bodyPr>
          <a:lstStyle/>
          <a:p>
            <a:pPr marL="432000" indent="-324000">
              <a:lnSpc>
                <a:spcPts val="2401"/>
              </a:lnSpc>
              <a:spcAft>
                <a:spcPts val="1599"/>
              </a:spcAft>
              <a:buClr>
                <a:srgbClr val="000000"/>
              </a:buClr>
              <a:buSzPct val="45000"/>
              <a:buFont typeface="Wingdings" charset="2"/>
              <a:buChar char=""/>
              <a:tabLst>
                <a:tab pos="0" algn="l"/>
              </a:tabLst>
            </a:pPr>
            <a:r>
              <a:rPr lang="de-DE" sz="1350" b="0" strike="noStrike" spc="-1">
                <a:solidFill>
                  <a:srgbClr val="14272E"/>
                </a:solidFill>
                <a:latin typeface="Calibri"/>
              </a:rPr>
              <a:t>Bild durch Klicken auf Symbol hinzufügen</a:t>
            </a:r>
            <a:endParaRPr lang="de-DE" sz="1350" b="1" strike="noStrike" spc="-1">
              <a:solidFill>
                <a:srgbClr val="262626"/>
              </a:solidFill>
              <a:latin typeface="Calibri"/>
            </a:endParaRPr>
          </a:p>
        </p:txBody>
      </p:sp>
      <p:cxnSp>
        <p:nvCxnSpPr>
          <p:cNvPr id="9" name="Line 6"/>
          <p:cNvCxnSpPr/>
          <p:nvPr/>
        </p:nvCxnSpPr>
        <p:spPr>
          <a:xfrm>
            <a:off x="10438920" y="272880"/>
            <a:ext cx="360" cy="972360"/>
          </a:xfrm>
          <a:prstGeom prst="straightConnector1">
            <a:avLst/>
          </a:prstGeom>
          <a:ln w="19080">
            <a:solidFill>
              <a:srgbClr val="262626"/>
            </a:solidFill>
            <a:miter/>
          </a:ln>
        </p:spPr>
      </p:cxnSp>
      <p:pic>
        <p:nvPicPr>
          <p:cNvPr id="10" name="Grafik 4" descr="Ein Bild, das Text, Schrift, Logo, Grafiken enthält.&#10;&#10;Automatisch generierte Beschreibung"/>
          <p:cNvPicPr/>
          <p:nvPr/>
        </p:nvPicPr>
        <p:blipFill>
          <a:blip r:embed="rId18"/>
          <a:stretch/>
        </p:blipFill>
        <p:spPr>
          <a:xfrm>
            <a:off x="61200" y="6355440"/>
            <a:ext cx="1955880" cy="374040"/>
          </a:xfrm>
          <a:prstGeom prst="rect">
            <a:avLst/>
          </a:prstGeom>
          <a:ln>
            <a:noFill/>
          </a:ln>
        </p:spPr>
      </p:pic>
      <p:pic>
        <p:nvPicPr>
          <p:cNvPr id="11" name="Grafik 10" descr="Ein Bild, das Text, Schrift, Screenshot, Electric Blue (Farbe) enthält.&#10;&#10;Automatisch generierte Beschreibung"/>
          <p:cNvPicPr/>
          <p:nvPr/>
        </p:nvPicPr>
        <p:blipFill>
          <a:blip r:embed="rId19"/>
          <a:stretch/>
        </p:blipFill>
        <p:spPr>
          <a:xfrm>
            <a:off x="4671000" y="6241680"/>
            <a:ext cx="1283400" cy="493920"/>
          </a:xfrm>
          <a:prstGeom prst="rect">
            <a:avLst/>
          </a:prstGeom>
          <a:ln>
            <a:noFill/>
          </a:ln>
        </p:spPr>
      </p:pic>
      <p:pic>
        <p:nvPicPr>
          <p:cNvPr id="12" name="Grafik 20"/>
          <p:cNvPicPr/>
          <p:nvPr/>
        </p:nvPicPr>
        <p:blipFill>
          <a:blip r:embed="rId20"/>
          <a:srcRect t="4395" b="1775"/>
          <a:stretch/>
        </p:blipFill>
        <p:spPr>
          <a:xfrm>
            <a:off x="2955960" y="6229080"/>
            <a:ext cx="1640160" cy="563760"/>
          </a:xfrm>
          <a:prstGeom prst="rect">
            <a:avLst/>
          </a:prstGeom>
          <a:ln>
            <a:noFill/>
          </a:ln>
        </p:spPr>
      </p:pic>
      <p:pic>
        <p:nvPicPr>
          <p:cNvPr id="13" name="Grafik 23" descr="Ein Bild, das Text, Schrift, Electric Blue (Farbe), Screenshot enthält.&#10;&#10;Automatisch generierte Beschreibung"/>
          <p:cNvPicPr/>
          <p:nvPr/>
        </p:nvPicPr>
        <p:blipFill>
          <a:blip r:embed="rId21"/>
          <a:stretch/>
        </p:blipFill>
        <p:spPr>
          <a:xfrm>
            <a:off x="6029280" y="6229080"/>
            <a:ext cx="1640160" cy="493920"/>
          </a:xfrm>
          <a:prstGeom prst="rect">
            <a:avLst/>
          </a:prstGeom>
          <a:ln>
            <a:noFill/>
          </a:ln>
        </p:spPr>
      </p:pic>
      <p:sp>
        <p:nvSpPr>
          <p:cNvPr id="14" name="PlaceHolder 7"/>
          <p:cNvSpPr>
            <a:spLocks noGrp="1"/>
          </p:cNvSpPr>
          <p:nvPr>
            <p:ph type="title"/>
          </p:nvPr>
        </p:nvSpPr>
        <p:spPr>
          <a:xfrm>
            <a:off x="4295880" y="2954520"/>
            <a:ext cx="7655760" cy="883800"/>
          </a:xfrm>
          <a:prstGeom prst="rect">
            <a:avLst/>
          </a:prstGeom>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Project number</a:t>
            </a:r>
            <a:endParaRPr lang="de-DE" sz="5400" b="0" strike="noStrike" spc="-1">
              <a:solidFill>
                <a:srgbClr val="14272E"/>
              </a:solidFill>
              <a:latin typeface="Calibri"/>
            </a:endParaRPr>
          </a:p>
        </p:txBody>
      </p:sp>
      <p:sp>
        <p:nvSpPr>
          <p:cNvPr id="15" name="PlaceHolder 8"/>
          <p:cNvSpPr>
            <a:spLocks noGrp="1"/>
          </p:cNvSpPr>
          <p:nvPr>
            <p:ph type="dt"/>
          </p:nvPr>
        </p:nvSpPr>
        <p:spPr>
          <a:xfrm>
            <a:off x="10018800" y="6372360"/>
            <a:ext cx="1932840" cy="320760"/>
          </a:xfrm>
          <a:prstGeom prst="rect">
            <a:avLst/>
          </a:prstGeom>
        </p:spPr>
        <p:txBody>
          <a:bodyPr lIns="90000" tIns="45000" rIns="90000" bIns="45000">
            <a:noAutofit/>
          </a:bodyPr>
          <a:lstStyle/>
          <a:p>
            <a:pPr algn="r">
              <a:lnSpc>
                <a:spcPct val="100000"/>
              </a:lnSpc>
            </a:pPr>
            <a:r>
              <a:rPr lang="en-US" sz="1400" b="0" strike="noStrike" spc="-1">
                <a:solidFill>
                  <a:srgbClr val="262626"/>
                </a:solidFill>
                <a:latin typeface="Futura Bk BT"/>
              </a:rPr>
              <a:t>&lt;date/time&gt;</a:t>
            </a:r>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2" name="Group 1"/>
          <p:cNvGrpSpPr/>
          <p:nvPr/>
        </p:nvGrpSpPr>
        <p:grpSpPr>
          <a:xfrm>
            <a:off x="97560" y="6209280"/>
            <a:ext cx="1758600" cy="630360"/>
            <a:chOff x="97560" y="6209280"/>
            <a:chExt cx="1758600" cy="630360"/>
          </a:xfrm>
        </p:grpSpPr>
        <p:pic>
          <p:nvPicPr>
            <p:cNvPr id="53" name="Grafik 3"/>
            <p:cNvPicPr/>
            <p:nvPr/>
          </p:nvPicPr>
          <p:blipFill>
            <a:blip r:embed="rId14"/>
            <a:srcRect b="20155"/>
            <a:stretch/>
          </p:blipFill>
          <p:spPr>
            <a:xfrm>
              <a:off x="97560" y="6209280"/>
              <a:ext cx="1052640" cy="630360"/>
            </a:xfrm>
            <a:prstGeom prst="rect">
              <a:avLst/>
            </a:prstGeom>
            <a:ln>
              <a:noFill/>
            </a:ln>
          </p:spPr>
        </p:pic>
        <p:sp>
          <p:nvSpPr>
            <p:cNvPr id="54"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55" name="Line 3"/>
          <p:cNvCxnSpPr/>
          <p:nvPr/>
        </p:nvCxnSpPr>
        <p:spPr>
          <a:xfrm>
            <a:off x="-8640" y="6104520"/>
            <a:ext cx="12200760" cy="360"/>
          </a:xfrm>
          <a:prstGeom prst="straightConnector1">
            <a:avLst/>
          </a:prstGeom>
          <a:ln w="19080">
            <a:solidFill>
              <a:srgbClr val="A485CE"/>
            </a:solidFill>
            <a:miter/>
          </a:ln>
        </p:spPr>
      </p:cxnSp>
      <p:sp>
        <p:nvSpPr>
          <p:cNvPr id="56" name="CustomShape 4"/>
          <p:cNvSpPr/>
          <p:nvPr/>
        </p:nvSpPr>
        <p:spPr>
          <a:xfrm>
            <a:off x="0" y="0"/>
            <a:ext cx="12191760" cy="6863760"/>
          </a:xfrm>
          <a:prstGeom prst="rect">
            <a:avLst/>
          </a:prstGeom>
          <a:solidFill>
            <a:srgbClr val="14272E"/>
          </a:solidFill>
          <a:ln w="12600">
            <a:noFill/>
          </a:ln>
        </p:spPr>
        <p:style>
          <a:lnRef idx="0">
            <a:scrgbClr r="0" g="0" b="0"/>
          </a:lnRef>
          <a:fillRef idx="0">
            <a:scrgbClr r="0" g="0" b="0"/>
          </a:fillRef>
          <a:effectRef idx="0">
            <a:scrgbClr r="0" g="0" b="0"/>
          </a:effectRef>
          <a:fontRef idx="minor"/>
        </p:style>
        <p:txBody>
          <a:bodyPr/>
          <a:lstStyle/>
          <a:p>
            <a:endParaRPr lang="en-US"/>
          </a:p>
        </p:txBody>
      </p:sp>
      <p:sp>
        <p:nvSpPr>
          <p:cNvPr id="57" name="PlaceHolder 5"/>
          <p:cNvSpPr>
            <a:spLocks noGrp="1"/>
          </p:cNvSpPr>
          <p:nvPr>
            <p:ph type="title"/>
          </p:nvPr>
        </p:nvSpPr>
        <p:spPr>
          <a:xfrm>
            <a:off x="623880" y="1008000"/>
            <a:ext cx="5676480" cy="959760"/>
          </a:xfrm>
          <a:prstGeom prst="rect">
            <a:avLst/>
          </a:prstGeom>
        </p:spPr>
        <p:txBody>
          <a:bodyPr lIns="0" tIns="0" rIns="0" bIns="0">
            <a:noAutofit/>
          </a:bodyPr>
          <a:lstStyle/>
          <a:p>
            <a:pPr>
              <a:lnSpc>
                <a:spcPts val="7600"/>
              </a:lnSpc>
              <a:tabLst>
                <a:tab pos="0" algn="l"/>
              </a:tabLst>
            </a:pPr>
            <a:r>
              <a:rPr lang="de-DE" sz="6400" b="0" strike="noStrike" spc="-1">
                <a:solidFill>
                  <a:srgbClr val="FFFFFF"/>
                </a:solidFill>
                <a:latin typeface="Futura Bk BT"/>
                <a:ea typeface="Source Sans Pro"/>
              </a:rPr>
              <a:t>Chapter</a:t>
            </a:r>
            <a:br/>
            <a:endParaRPr lang="de-DE" sz="6400" b="0" strike="noStrike" spc="-1">
              <a:solidFill>
                <a:srgbClr val="14272E"/>
              </a:solidFill>
              <a:latin typeface="Calibri"/>
            </a:endParaRPr>
          </a:p>
        </p:txBody>
      </p:sp>
      <p:sp>
        <p:nvSpPr>
          <p:cNvPr id="58" name="PlaceHolder 6"/>
          <p:cNvSpPr>
            <a:spLocks noGrp="1"/>
          </p:cNvSpPr>
          <p:nvPr>
            <p:ph type="body"/>
          </p:nvPr>
        </p:nvSpPr>
        <p:spPr>
          <a:xfrm>
            <a:off x="623880" y="1968480"/>
            <a:ext cx="5676480" cy="1919520"/>
          </a:xfrm>
          <a:prstGeom prst="rect">
            <a:avLst/>
          </a:prstGeom>
        </p:spPr>
        <p:txBody>
          <a:bodyPr lIns="0" tIns="0" rIns="0" bIns="0">
            <a:noAutofit/>
          </a:bodyPr>
          <a:lstStyle/>
          <a:p>
            <a:pPr marL="432000" indent="-324000">
              <a:lnSpc>
                <a:spcPts val="7600"/>
              </a:lnSpc>
              <a:spcAft>
                <a:spcPts val="1599"/>
              </a:spcAft>
              <a:buClr>
                <a:srgbClr val="000000"/>
              </a:buClr>
              <a:buSzPct val="45000"/>
              <a:buFont typeface="Wingdings" charset="2"/>
              <a:buChar char=""/>
              <a:tabLst>
                <a:tab pos="0" algn="l"/>
              </a:tabLst>
            </a:pPr>
            <a:r>
              <a:rPr lang="en-US" sz="7200" b="1" strike="noStrike" spc="-1">
                <a:solidFill>
                  <a:srgbClr val="C8B6E2"/>
                </a:solidFill>
                <a:latin typeface="Futura Bk BT"/>
                <a:ea typeface="Source Sans Pro"/>
              </a:rPr>
              <a:t>Highlighting</a:t>
            </a:r>
            <a:endParaRPr lang="de-DE" sz="7200" b="1" strike="noStrike" spc="-1">
              <a:solidFill>
                <a:srgbClr val="262626"/>
              </a:solidFill>
              <a:latin typeface="Calibri"/>
            </a:endParaRPr>
          </a:p>
        </p:txBody>
      </p:sp>
      <p:pic>
        <p:nvPicPr>
          <p:cNvPr id="59" name="Grafik 4" descr="Ein Bild, das draußen, Himmel, Vogel enthält.&#10;&#10;Automatisch generierte Beschreibung mit mittlerer Zuverlässigkeit"/>
          <p:cNvPicPr/>
          <p:nvPr/>
        </p:nvPicPr>
        <p:blipFill>
          <a:blip r:embed="rId15"/>
          <a:stretch/>
        </p:blipFill>
        <p:spPr>
          <a:xfrm>
            <a:off x="7620120" y="-8640"/>
            <a:ext cx="4571640" cy="6872400"/>
          </a:xfrm>
          <a:prstGeom prst="rect">
            <a:avLst/>
          </a:prstGeom>
          <a:ln>
            <a:noFill/>
          </a:ln>
        </p:spPr>
      </p:pic>
      <p:sp>
        <p:nvSpPr>
          <p:cNvPr id="60" name="CustomShape 7"/>
          <p:cNvSpPr/>
          <p:nvPr/>
        </p:nvSpPr>
        <p:spPr>
          <a:xfrm>
            <a:off x="9972000" y="-8640"/>
            <a:ext cx="1932120" cy="1569600"/>
          </a:xfrm>
          <a:prstGeom prst="rect">
            <a:avLst/>
          </a:prstGeom>
          <a:solidFill>
            <a:srgbClr val="14272E"/>
          </a:solidFill>
          <a:ln w="12600">
            <a:noFill/>
          </a:ln>
        </p:spPr>
        <p:style>
          <a:lnRef idx="0">
            <a:scrgbClr r="0" g="0" b="0"/>
          </a:lnRef>
          <a:fillRef idx="0">
            <a:scrgbClr r="0" g="0" b="0"/>
          </a:fillRef>
          <a:effectRef idx="0">
            <a:scrgbClr r="0" g="0" b="0"/>
          </a:effectRef>
          <a:fontRef idx="minor"/>
        </p:style>
        <p:txBody>
          <a:bodyPr/>
          <a:lstStyle/>
          <a:p>
            <a:endParaRPr lang="en-US"/>
          </a:p>
        </p:txBody>
      </p:sp>
      <p:pic>
        <p:nvPicPr>
          <p:cNvPr id="61" name="Grafik 6" descr="Ein Bild, das Kugel enthält.&#10;&#10;Automatisch generierte Beschreibung"/>
          <p:cNvPicPr/>
          <p:nvPr/>
        </p:nvPicPr>
        <p:blipFill>
          <a:blip r:embed="rId16"/>
          <a:stretch/>
        </p:blipFill>
        <p:spPr>
          <a:xfrm>
            <a:off x="10093320" y="142200"/>
            <a:ext cx="1689480" cy="1267560"/>
          </a:xfrm>
          <a:prstGeom prst="rect">
            <a:avLst/>
          </a:prstGeom>
          <a:ln>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98" name="Group 1"/>
          <p:cNvGrpSpPr/>
          <p:nvPr/>
        </p:nvGrpSpPr>
        <p:grpSpPr>
          <a:xfrm>
            <a:off x="97560" y="6209280"/>
            <a:ext cx="1758600" cy="630360"/>
            <a:chOff x="97560" y="6209280"/>
            <a:chExt cx="1758600" cy="630360"/>
          </a:xfrm>
        </p:grpSpPr>
        <p:pic>
          <p:nvPicPr>
            <p:cNvPr id="99" name="Grafik 3"/>
            <p:cNvPicPr/>
            <p:nvPr/>
          </p:nvPicPr>
          <p:blipFill>
            <a:blip r:embed="rId14"/>
            <a:srcRect b="20155"/>
            <a:stretch/>
          </p:blipFill>
          <p:spPr>
            <a:xfrm>
              <a:off x="97560" y="6209280"/>
              <a:ext cx="1052640" cy="630360"/>
            </a:xfrm>
            <a:prstGeom prst="rect">
              <a:avLst/>
            </a:prstGeom>
            <a:ln>
              <a:noFill/>
            </a:ln>
          </p:spPr>
        </p:pic>
        <p:sp>
          <p:nvSpPr>
            <p:cNvPr id="100"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101" name="Line 3"/>
          <p:cNvCxnSpPr/>
          <p:nvPr/>
        </p:nvCxnSpPr>
        <p:spPr>
          <a:xfrm>
            <a:off x="-8640" y="6104520"/>
            <a:ext cx="12200760" cy="360"/>
          </a:xfrm>
          <a:prstGeom prst="straightConnector1">
            <a:avLst/>
          </a:prstGeom>
          <a:ln w="19080">
            <a:solidFill>
              <a:srgbClr val="A485CE"/>
            </a:solidFill>
            <a:miter/>
          </a:ln>
        </p:spPr>
      </p:cxnSp>
      <p:sp>
        <p:nvSpPr>
          <p:cNvPr id="102" name="PlaceHolder 4"/>
          <p:cNvSpPr>
            <a:spLocks noGrp="1"/>
          </p:cNvSpPr>
          <p:nvPr>
            <p:ph type="sldNum"/>
          </p:nvPr>
        </p:nvSpPr>
        <p:spPr>
          <a:xfrm>
            <a:off x="11286000" y="6364080"/>
            <a:ext cx="618840" cy="320760"/>
          </a:xfrm>
          <a:prstGeom prst="rect">
            <a:avLst/>
          </a:prstGeom>
        </p:spPr>
        <p:txBody>
          <a:bodyPr lIns="90000" tIns="45000" rIns="90000" bIns="45000">
            <a:noAutofit/>
          </a:bodyPr>
          <a:lstStyle/>
          <a:p>
            <a:pPr>
              <a:lnSpc>
                <a:spcPct val="100000"/>
              </a:lnSpc>
            </a:pPr>
            <a:fld id="{F1CAF9C1-4CEA-4014-B6B2-2FE9BB4A9B01}" type="slidenum">
              <a:rPr lang="en-GB" sz="1350" b="0" strike="noStrike" spc="-1">
                <a:solidFill>
                  <a:srgbClr val="14272E"/>
                </a:solidFill>
                <a:latin typeface="Calibri"/>
              </a:rPr>
              <a:t>‹#›</a:t>
            </a:fld>
            <a:endParaRPr lang="en-US" sz="1350" b="0" strike="noStrike" spc="-1">
              <a:latin typeface="Times New Roman"/>
            </a:endParaRPr>
          </a:p>
        </p:txBody>
      </p:sp>
      <p:sp>
        <p:nvSpPr>
          <p:cNvPr id="103" name="PlaceHolder 5"/>
          <p:cNvSpPr>
            <a:spLocks noGrp="1"/>
          </p:cNvSpPr>
          <p:nvPr>
            <p:ph type="title"/>
          </p:nvPr>
        </p:nvSpPr>
        <p:spPr>
          <a:xfrm>
            <a:off x="623880" y="288720"/>
            <a:ext cx="10938960" cy="623520"/>
          </a:xfrm>
          <a:prstGeom prst="rect">
            <a:avLst/>
          </a:prstGeom>
        </p:spPr>
        <p:txBody>
          <a:bodyPr lIns="0" tIns="0" rIns="0" bIns="0">
            <a:noAutofit/>
          </a:bodyPr>
          <a:lstStyle/>
          <a:p>
            <a:pPr>
              <a:lnSpc>
                <a:spcPct val="100000"/>
              </a:lnSpc>
              <a:tabLst>
                <a:tab pos="0" algn="l"/>
              </a:tabLst>
            </a:pPr>
            <a:r>
              <a:rPr lang="de-DE" sz="3600" b="0" strike="noStrike" spc="-1">
                <a:solidFill>
                  <a:srgbClr val="14272E"/>
                </a:solidFill>
                <a:latin typeface="Futura Bk BT"/>
                <a:ea typeface="Source Sans Pro"/>
              </a:rPr>
              <a:t>Chapter | CHART-HEADLINE</a:t>
            </a:r>
            <a:endParaRPr lang="de-DE" sz="3600" b="0" strike="noStrike" spc="-1">
              <a:solidFill>
                <a:srgbClr val="14272E"/>
              </a:solidFill>
              <a:latin typeface="Calibri"/>
            </a:endParaRPr>
          </a:p>
        </p:txBody>
      </p:sp>
      <p:sp>
        <p:nvSpPr>
          <p:cNvPr id="104" name="PlaceHolder 6"/>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de-DE" sz="2000" b="1" strike="noStrike" spc="-1">
                <a:solidFill>
                  <a:srgbClr val="262626"/>
                </a:solidFill>
                <a:latin typeface="Calibri"/>
              </a:rPr>
              <a:t>Click to edit the outline text format</a:t>
            </a:r>
          </a:p>
          <a:p>
            <a:pPr marL="864000" lvl="1" indent="-324000">
              <a:spcBef>
                <a:spcPts val="1134"/>
              </a:spcBef>
              <a:buClr>
                <a:srgbClr val="000000"/>
              </a:buClr>
              <a:buSzPct val="75000"/>
              <a:buFont typeface="Symbol" charset="2"/>
              <a:buChar char=""/>
            </a:pPr>
            <a:r>
              <a:rPr lang="de-DE" sz="2000" b="0" strike="noStrike" spc="-1">
                <a:solidFill>
                  <a:srgbClr val="262626"/>
                </a:solidFill>
                <a:latin typeface="Calibri"/>
              </a:rPr>
              <a:t>Second Outline Level</a:t>
            </a:r>
          </a:p>
          <a:p>
            <a:pPr marL="1296000" lvl="2" indent="-288000">
              <a:spcBef>
                <a:spcPts val="850"/>
              </a:spcBef>
              <a:buClr>
                <a:srgbClr val="000000"/>
              </a:buClr>
              <a:buSzPct val="45000"/>
              <a:buFont typeface="Wingdings" charset="2"/>
              <a:buChar char=""/>
            </a:pPr>
            <a:r>
              <a:rPr lang="de-DE" sz="2000" b="0" strike="noStrike" spc="-1">
                <a:solidFill>
                  <a:srgbClr val="262626"/>
                </a:solidFill>
                <a:latin typeface="Calibri"/>
              </a:rPr>
              <a:t>Third Outline Level</a:t>
            </a:r>
          </a:p>
          <a:p>
            <a:pPr marL="1728000" lvl="3" indent="-216000">
              <a:spcBef>
                <a:spcPts val="567"/>
              </a:spcBef>
              <a:buClr>
                <a:srgbClr val="000000"/>
              </a:buClr>
              <a:buSzPct val="75000"/>
              <a:buFont typeface="Symbol" charset="2"/>
              <a:buChar char=""/>
            </a:pPr>
            <a:r>
              <a:rPr lang="de-DE" sz="2000" b="0" strike="noStrike" spc="-1">
                <a:solidFill>
                  <a:srgbClr val="262626"/>
                </a:solidFill>
                <a:latin typeface="Calibri"/>
              </a:rPr>
              <a:t>Fourth Outline Level</a:t>
            </a:r>
          </a:p>
          <a:p>
            <a:pPr marL="2160000" lvl="4" indent="-216000">
              <a:spcBef>
                <a:spcPts val="283"/>
              </a:spcBef>
              <a:buClr>
                <a:srgbClr val="000000"/>
              </a:buClr>
              <a:buSzPct val="45000"/>
              <a:buFont typeface="Wingdings" charset="2"/>
              <a:buChar char=""/>
            </a:pPr>
            <a:r>
              <a:rPr lang="de-DE" sz="2000" b="0" strike="noStrike" spc="-1">
                <a:solidFill>
                  <a:srgbClr val="262626"/>
                </a:solidFill>
                <a:latin typeface="Calibri"/>
              </a:rPr>
              <a:t>Fifth Outline Level</a:t>
            </a:r>
          </a:p>
          <a:p>
            <a:pPr marL="2592000" lvl="5" indent="-216000">
              <a:spcBef>
                <a:spcPts val="283"/>
              </a:spcBef>
              <a:buClr>
                <a:srgbClr val="000000"/>
              </a:buClr>
              <a:buSzPct val="45000"/>
              <a:buFont typeface="Wingdings" charset="2"/>
              <a:buChar char=""/>
            </a:pPr>
            <a:r>
              <a:rPr lang="de-DE" sz="2000" b="0" strike="noStrike" spc="-1">
                <a:solidFill>
                  <a:srgbClr val="262626"/>
                </a:solidFill>
                <a:latin typeface="Calibri"/>
              </a:rPr>
              <a:t>Sixth Outline Level</a:t>
            </a:r>
          </a:p>
          <a:p>
            <a:pPr marL="3024000" lvl="6" indent="-216000">
              <a:spcBef>
                <a:spcPts val="283"/>
              </a:spcBef>
              <a:buClr>
                <a:srgbClr val="000000"/>
              </a:buClr>
              <a:buSzPct val="45000"/>
              <a:buFont typeface="Wingdings" charset="2"/>
              <a:buChar char=""/>
            </a:pPr>
            <a:r>
              <a:rPr lang="de-DE" sz="2000" b="0" strike="noStrike" spc="-1">
                <a:solidFill>
                  <a:srgbClr val="262626"/>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74" name="Group 1"/>
          <p:cNvGrpSpPr/>
          <p:nvPr/>
        </p:nvGrpSpPr>
        <p:grpSpPr>
          <a:xfrm>
            <a:off x="97560" y="6209280"/>
            <a:ext cx="1758600" cy="630360"/>
            <a:chOff x="97560" y="6209280"/>
            <a:chExt cx="1758600" cy="630360"/>
          </a:xfrm>
        </p:grpSpPr>
        <p:pic>
          <p:nvPicPr>
            <p:cNvPr id="275" name="Grafik 3"/>
            <p:cNvPicPr/>
            <p:nvPr/>
          </p:nvPicPr>
          <p:blipFill>
            <a:blip r:embed="rId14"/>
            <a:srcRect b="20155"/>
            <a:stretch/>
          </p:blipFill>
          <p:spPr>
            <a:xfrm>
              <a:off x="97560" y="6209280"/>
              <a:ext cx="1052640" cy="630360"/>
            </a:xfrm>
            <a:prstGeom prst="rect">
              <a:avLst/>
            </a:prstGeom>
            <a:ln>
              <a:noFill/>
            </a:ln>
          </p:spPr>
        </p:pic>
        <p:sp>
          <p:nvSpPr>
            <p:cNvPr id="276"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277" name="Line 3"/>
          <p:cNvCxnSpPr/>
          <p:nvPr/>
        </p:nvCxnSpPr>
        <p:spPr>
          <a:xfrm>
            <a:off x="-8640" y="6104520"/>
            <a:ext cx="12200760" cy="360"/>
          </a:xfrm>
          <a:prstGeom prst="straightConnector1">
            <a:avLst/>
          </a:prstGeom>
          <a:ln w="19080">
            <a:solidFill>
              <a:srgbClr val="A485CE"/>
            </a:solidFill>
            <a:miter/>
          </a:ln>
        </p:spPr>
      </p:cxn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314" name="Group 1"/>
          <p:cNvGrpSpPr/>
          <p:nvPr/>
        </p:nvGrpSpPr>
        <p:grpSpPr>
          <a:xfrm>
            <a:off x="97560" y="6209280"/>
            <a:ext cx="1758600" cy="630360"/>
            <a:chOff x="97560" y="6209280"/>
            <a:chExt cx="1758600" cy="630360"/>
          </a:xfrm>
        </p:grpSpPr>
        <p:pic>
          <p:nvPicPr>
            <p:cNvPr id="315" name="Grafik 3"/>
            <p:cNvPicPr/>
            <p:nvPr/>
          </p:nvPicPr>
          <p:blipFill>
            <a:blip r:embed="rId14"/>
            <a:srcRect b="20155"/>
            <a:stretch/>
          </p:blipFill>
          <p:spPr>
            <a:xfrm>
              <a:off x="97560" y="6209280"/>
              <a:ext cx="1052640" cy="630360"/>
            </a:xfrm>
            <a:prstGeom prst="rect">
              <a:avLst/>
            </a:prstGeom>
            <a:ln>
              <a:noFill/>
            </a:ln>
          </p:spPr>
        </p:pic>
        <p:sp>
          <p:nvSpPr>
            <p:cNvPr id="316"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317" name="Line 3"/>
          <p:cNvCxnSpPr/>
          <p:nvPr/>
        </p:nvCxnSpPr>
        <p:spPr>
          <a:xfrm>
            <a:off x="-8640" y="6104520"/>
            <a:ext cx="12200760" cy="360"/>
          </a:xfrm>
          <a:prstGeom prst="straightConnector1">
            <a:avLst/>
          </a:prstGeom>
          <a:ln w="19080">
            <a:solidFill>
              <a:srgbClr val="A485CE"/>
            </a:solidFill>
            <a:miter/>
          </a:ln>
        </p:spPr>
      </p:cxnSp>
      <p:pic>
        <p:nvPicPr>
          <p:cNvPr id="318" name="Grafik 19" descr="Ein Bild, das Entwurf, Lineart, Zeichnung, Clipart enthält.&#10;&#10;Automatisch generierte Beschreibung"/>
          <p:cNvPicPr/>
          <p:nvPr/>
        </p:nvPicPr>
        <p:blipFill>
          <a:blip r:embed="rId15"/>
          <a:stretch/>
        </p:blipFill>
        <p:spPr>
          <a:xfrm>
            <a:off x="2091960" y="6091560"/>
            <a:ext cx="789120" cy="748440"/>
          </a:xfrm>
          <a:prstGeom prst="rect">
            <a:avLst/>
          </a:prstGeom>
          <a:ln>
            <a:noFill/>
          </a:ln>
        </p:spPr>
      </p:pic>
      <p:sp>
        <p:nvSpPr>
          <p:cNvPr id="319" name="CustomShape 4"/>
          <p:cNvSpPr/>
          <p:nvPr/>
        </p:nvSpPr>
        <p:spPr>
          <a:xfrm>
            <a:off x="5405760" y="164520"/>
            <a:ext cx="4876200" cy="1496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10000"/>
              </a:lnSpc>
            </a:pPr>
            <a:r>
              <a:rPr lang="en-US" sz="2100" b="0" strike="noStrike" spc="-1">
                <a:solidFill>
                  <a:srgbClr val="262626"/>
                </a:solidFill>
                <a:latin typeface="Futura Bk BT"/>
                <a:ea typeface="Source Sans Pro"/>
              </a:rPr>
              <a:t>Atomic-scale understanding and design of multifunctional compositionally complex solid solution surfaces</a:t>
            </a:r>
            <a:endParaRPr lang="en-US" sz="2100" b="0" strike="noStrike" spc="-1">
              <a:solidFill>
                <a:srgbClr val="45ACDF"/>
              </a:solidFill>
              <a:latin typeface="Arial"/>
            </a:endParaRPr>
          </a:p>
        </p:txBody>
      </p:sp>
      <p:pic>
        <p:nvPicPr>
          <p:cNvPr id="320" name="Grafik 14"/>
          <p:cNvPicPr/>
          <p:nvPr/>
        </p:nvPicPr>
        <p:blipFill>
          <a:blip r:embed="rId16"/>
          <a:srcRect t="-4718" b="-5898"/>
          <a:stretch/>
        </p:blipFill>
        <p:spPr>
          <a:xfrm>
            <a:off x="10653120" y="235080"/>
            <a:ext cx="1298520" cy="1077840"/>
          </a:xfrm>
          <a:prstGeom prst="rect">
            <a:avLst/>
          </a:prstGeom>
          <a:ln>
            <a:noFill/>
          </a:ln>
        </p:spPr>
      </p:pic>
      <p:pic>
        <p:nvPicPr>
          <p:cNvPr id="321" name="Grafik 3" descr="Ein Bild, das Text, Schrift, Screenshot, Grafiken enthält.&#10;&#10;Automatisch generierte Beschreibung"/>
          <p:cNvPicPr/>
          <p:nvPr/>
        </p:nvPicPr>
        <p:blipFill>
          <a:blip r:embed="rId17"/>
          <a:stretch/>
        </p:blipFill>
        <p:spPr>
          <a:xfrm>
            <a:off x="7744680" y="6234480"/>
            <a:ext cx="2204640" cy="462600"/>
          </a:xfrm>
          <a:prstGeom prst="rect">
            <a:avLst/>
          </a:prstGeom>
          <a:ln>
            <a:noFill/>
          </a:ln>
        </p:spPr>
      </p:pic>
      <p:sp>
        <p:nvSpPr>
          <p:cNvPr id="322" name="PlaceHolder 5"/>
          <p:cNvSpPr>
            <a:spLocks noGrp="1"/>
          </p:cNvSpPr>
          <p:nvPr>
            <p:ph type="body"/>
          </p:nvPr>
        </p:nvSpPr>
        <p:spPr>
          <a:xfrm>
            <a:off x="-5760" y="0"/>
            <a:ext cx="4209840" cy="5762160"/>
          </a:xfrm>
          <a:prstGeom prst="rect">
            <a:avLst/>
          </a:prstGeom>
        </p:spPr>
        <p:txBody>
          <a:bodyPr lIns="90000" tIns="45000" rIns="90000" bIns="45000">
            <a:noAutofit/>
          </a:bodyPr>
          <a:lstStyle/>
          <a:p>
            <a:pPr marL="432000" indent="-324000">
              <a:lnSpc>
                <a:spcPts val="2401"/>
              </a:lnSpc>
              <a:spcAft>
                <a:spcPts val="1599"/>
              </a:spcAft>
              <a:buClr>
                <a:srgbClr val="000000"/>
              </a:buClr>
              <a:buSzPct val="45000"/>
              <a:buFont typeface="Wingdings" charset="2"/>
              <a:buChar char=""/>
              <a:tabLst>
                <a:tab pos="0" algn="l"/>
              </a:tabLst>
            </a:pPr>
            <a:r>
              <a:rPr lang="de-DE" sz="1350" b="0" strike="noStrike" spc="-1">
                <a:solidFill>
                  <a:srgbClr val="14272E"/>
                </a:solidFill>
                <a:latin typeface="Calibri"/>
              </a:rPr>
              <a:t>Bild durch Klicken auf Symbol hinzufügen</a:t>
            </a:r>
            <a:endParaRPr lang="de-DE" sz="1350" b="1" strike="noStrike" spc="-1">
              <a:solidFill>
                <a:srgbClr val="262626"/>
              </a:solidFill>
              <a:latin typeface="Calibri"/>
            </a:endParaRPr>
          </a:p>
        </p:txBody>
      </p:sp>
      <p:cxnSp>
        <p:nvCxnSpPr>
          <p:cNvPr id="323" name="Line 6"/>
          <p:cNvCxnSpPr/>
          <p:nvPr/>
        </p:nvCxnSpPr>
        <p:spPr>
          <a:xfrm>
            <a:off x="10438920" y="272880"/>
            <a:ext cx="360" cy="972360"/>
          </a:xfrm>
          <a:prstGeom prst="straightConnector1">
            <a:avLst/>
          </a:prstGeom>
          <a:ln w="19080">
            <a:solidFill>
              <a:srgbClr val="262626"/>
            </a:solidFill>
            <a:miter/>
          </a:ln>
        </p:spPr>
      </p:cxnSp>
      <p:pic>
        <p:nvPicPr>
          <p:cNvPr id="324" name="Grafik 4" descr="Ein Bild, das Text, Schrift, Logo, Grafiken enthält.&#10;&#10;Automatisch generierte Beschreibung"/>
          <p:cNvPicPr/>
          <p:nvPr/>
        </p:nvPicPr>
        <p:blipFill>
          <a:blip r:embed="rId18"/>
          <a:stretch/>
        </p:blipFill>
        <p:spPr>
          <a:xfrm>
            <a:off x="61200" y="6355440"/>
            <a:ext cx="1955880" cy="374040"/>
          </a:xfrm>
          <a:prstGeom prst="rect">
            <a:avLst/>
          </a:prstGeom>
          <a:ln>
            <a:noFill/>
          </a:ln>
        </p:spPr>
      </p:pic>
      <p:pic>
        <p:nvPicPr>
          <p:cNvPr id="325" name="Grafik 10" descr="Ein Bild, das Text, Schrift, Screenshot, Electric Blue (Farbe) enthält.&#10;&#10;Automatisch generierte Beschreibung"/>
          <p:cNvPicPr/>
          <p:nvPr/>
        </p:nvPicPr>
        <p:blipFill>
          <a:blip r:embed="rId19"/>
          <a:stretch/>
        </p:blipFill>
        <p:spPr>
          <a:xfrm>
            <a:off x="4671000" y="6241680"/>
            <a:ext cx="1283400" cy="493920"/>
          </a:xfrm>
          <a:prstGeom prst="rect">
            <a:avLst/>
          </a:prstGeom>
          <a:ln>
            <a:noFill/>
          </a:ln>
        </p:spPr>
      </p:pic>
      <p:pic>
        <p:nvPicPr>
          <p:cNvPr id="326" name="Grafik 20"/>
          <p:cNvPicPr/>
          <p:nvPr/>
        </p:nvPicPr>
        <p:blipFill>
          <a:blip r:embed="rId20"/>
          <a:srcRect t="4395" b="1775"/>
          <a:stretch/>
        </p:blipFill>
        <p:spPr>
          <a:xfrm>
            <a:off x="2955960" y="6229080"/>
            <a:ext cx="1640160" cy="563760"/>
          </a:xfrm>
          <a:prstGeom prst="rect">
            <a:avLst/>
          </a:prstGeom>
          <a:ln>
            <a:noFill/>
          </a:ln>
        </p:spPr>
      </p:pic>
      <p:pic>
        <p:nvPicPr>
          <p:cNvPr id="327" name="Grafik 23" descr="Ein Bild, das Text, Schrift, Electric Blue (Farbe), Screenshot enthält.&#10;&#10;Automatisch generierte Beschreibung"/>
          <p:cNvPicPr/>
          <p:nvPr/>
        </p:nvPicPr>
        <p:blipFill>
          <a:blip r:embed="rId21"/>
          <a:stretch/>
        </p:blipFill>
        <p:spPr>
          <a:xfrm>
            <a:off x="6029280" y="6229080"/>
            <a:ext cx="1640160" cy="493920"/>
          </a:xfrm>
          <a:prstGeom prst="rect">
            <a:avLst/>
          </a:prstGeom>
          <a:ln>
            <a:noFill/>
          </a:ln>
        </p:spPr>
      </p:pic>
      <p:sp>
        <p:nvSpPr>
          <p:cNvPr id="328" name="PlaceHolder 7"/>
          <p:cNvSpPr>
            <a:spLocks noGrp="1"/>
          </p:cNvSpPr>
          <p:nvPr>
            <p:ph type="title"/>
          </p:nvPr>
        </p:nvSpPr>
        <p:spPr>
          <a:xfrm>
            <a:off x="4295880" y="2954520"/>
            <a:ext cx="7655760" cy="883800"/>
          </a:xfrm>
          <a:prstGeom prst="rect">
            <a:avLst/>
          </a:prstGeom>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Project number</a:t>
            </a:r>
            <a:endParaRPr lang="de-DE" sz="5400" b="0" strike="noStrike" spc="-1">
              <a:solidFill>
                <a:srgbClr val="14272E"/>
              </a:solidFill>
              <a:latin typeface="Calibri"/>
            </a:endParaRPr>
          </a:p>
        </p:txBody>
      </p:sp>
      <p:sp>
        <p:nvSpPr>
          <p:cNvPr id="329" name="PlaceHolder 8"/>
          <p:cNvSpPr>
            <a:spLocks noGrp="1"/>
          </p:cNvSpPr>
          <p:nvPr>
            <p:ph type="dt"/>
          </p:nvPr>
        </p:nvSpPr>
        <p:spPr>
          <a:xfrm>
            <a:off x="10018800" y="6372360"/>
            <a:ext cx="1932840" cy="320760"/>
          </a:xfrm>
          <a:prstGeom prst="rect">
            <a:avLst/>
          </a:prstGeom>
        </p:spPr>
        <p:txBody>
          <a:bodyPr lIns="90000" tIns="45000" rIns="90000" bIns="45000">
            <a:noAutofit/>
          </a:bodyPr>
          <a:lstStyle/>
          <a:p>
            <a:pPr algn="r">
              <a:lnSpc>
                <a:spcPct val="100000"/>
              </a:lnSpc>
            </a:pPr>
            <a:r>
              <a:rPr lang="en-US" sz="1400" b="0" strike="noStrike" spc="-1">
                <a:solidFill>
                  <a:srgbClr val="262626"/>
                </a:solidFill>
                <a:latin typeface="Futura Bk BT"/>
              </a:rPr>
              <a:t>&lt;date/time&gt;</a:t>
            </a:r>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 name="CustomShape 1"/>
          <p:cNvSpPr/>
          <p:nvPr/>
        </p:nvSpPr>
        <p:spPr>
          <a:xfrm>
            <a:off x="11436480" y="6205680"/>
            <a:ext cx="75384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fld id="{C2FD93F9-49F4-4FF6-8711-350CE3D348E0}" type="slidenum">
              <a:rPr lang="en-US" sz="1600" b="0" strike="noStrike" spc="-1">
                <a:solidFill>
                  <a:srgbClr val="002060"/>
                </a:solidFill>
                <a:latin typeface="Arial"/>
                <a:ea typeface="ＭＳ Ｐゴシック"/>
              </a:rPr>
              <a:t>‹#›</a:t>
            </a:fld>
            <a:endParaRPr lang="en-US" sz="1600" b="0" strike="noStrike" spc="-1">
              <a:solidFill>
                <a:srgbClr val="45ACDF"/>
              </a:solidFill>
              <a:latin typeface="Arial"/>
            </a:endParaRPr>
          </a:p>
        </p:txBody>
      </p:sp>
      <p:pic>
        <p:nvPicPr>
          <p:cNvPr id="721" name="Picture 12" descr="PP_02"/>
          <p:cNvPicPr/>
          <p:nvPr/>
        </p:nvPicPr>
        <p:blipFill>
          <a:blip r:embed="rId14"/>
          <a:srcRect l="27449" r="3214"/>
          <a:stretch/>
        </p:blipFill>
        <p:spPr>
          <a:xfrm>
            <a:off x="3575880" y="6122880"/>
            <a:ext cx="5254920" cy="552600"/>
          </a:xfrm>
          <a:prstGeom prst="rect">
            <a:avLst/>
          </a:prstGeom>
          <a:ln w="9360">
            <a:noFill/>
          </a:ln>
        </p:spPr>
      </p:pic>
      <p:pic>
        <p:nvPicPr>
          <p:cNvPr id="722" name="Bild 8" descr="ICAMS-Logo-gross.gif"/>
          <p:cNvPicPr/>
          <p:nvPr/>
        </p:nvPicPr>
        <p:blipFill>
          <a:blip r:embed="rId15"/>
          <a:srcRect b="41469"/>
          <a:stretch/>
        </p:blipFill>
        <p:spPr>
          <a:xfrm>
            <a:off x="912600" y="6177960"/>
            <a:ext cx="1386720" cy="364320"/>
          </a:xfrm>
          <a:prstGeom prst="rect">
            <a:avLst/>
          </a:prstGeom>
          <a:ln w="9360">
            <a:noFill/>
          </a:ln>
        </p:spPr>
      </p:pic>
      <p:pic>
        <p:nvPicPr>
          <p:cNvPr id="723" name="Bild 8" descr="Label_RUB_BLAU-WEISS_cmyk.jpg"/>
          <p:cNvPicPr/>
          <p:nvPr/>
        </p:nvPicPr>
        <p:blipFill>
          <a:blip r:embed="rId16"/>
          <a:stretch/>
        </p:blipFill>
        <p:spPr>
          <a:xfrm>
            <a:off x="9891000" y="5517360"/>
            <a:ext cx="1251360" cy="1104120"/>
          </a:xfrm>
          <a:prstGeom prst="rect">
            <a:avLst/>
          </a:prstGeom>
          <a:ln w="9360">
            <a:noFill/>
          </a:ln>
        </p:spPr>
      </p:pic>
      <p:sp>
        <p:nvSpPr>
          <p:cNvPr id="724"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725"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TextShape 1"/>
          <p:cNvSpPr txBox="1"/>
          <p:nvPr/>
        </p:nvSpPr>
        <p:spPr>
          <a:xfrm>
            <a:off x="4295880" y="2954520"/>
            <a:ext cx="7655760" cy="883800"/>
          </a:xfrm>
          <a:prstGeom prst="rect">
            <a:avLst/>
          </a:prstGeom>
          <a:noFill/>
          <a:ln>
            <a:noFill/>
          </a:ln>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INF</a:t>
            </a:r>
            <a:endParaRPr lang="de-DE" sz="5400" b="0" strike="noStrike" spc="-1">
              <a:solidFill>
                <a:srgbClr val="14272E"/>
              </a:solidFill>
              <a:latin typeface="Calibri"/>
            </a:endParaRPr>
          </a:p>
        </p:txBody>
      </p:sp>
      <p:sp>
        <p:nvSpPr>
          <p:cNvPr id="807" name="CustomShape 2"/>
          <p:cNvSpPr/>
          <p:nvPr/>
        </p:nvSpPr>
        <p:spPr>
          <a:xfrm>
            <a:off x="2286000" y="4740840"/>
            <a:ext cx="9665640" cy="173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en-US" sz="3600" b="0" strike="noStrike" spc="-1" dirty="0">
                <a:solidFill>
                  <a:srgbClr val="14272E"/>
                </a:solidFill>
                <a:latin typeface="Calibri"/>
              </a:rPr>
              <a:t>FAIR collection, curation, and management of multidimensional research data</a:t>
            </a:r>
            <a:endParaRPr lang="en-US" sz="3600" b="0" strike="noStrike" spc="-1" dirty="0">
              <a:solidFill>
                <a:srgbClr val="45ACDF"/>
              </a:solidFill>
              <a:latin typeface="Arial"/>
            </a:endParaRPr>
          </a:p>
        </p:txBody>
      </p:sp>
      <p:pic>
        <p:nvPicPr>
          <p:cNvPr id="808" name="Picture 807"/>
          <p:cNvPicPr/>
          <p:nvPr/>
        </p:nvPicPr>
        <p:blipFill>
          <a:blip r:embed="rId2"/>
          <a:stretch/>
        </p:blipFill>
        <p:spPr>
          <a:xfrm>
            <a:off x="144000" y="1456200"/>
            <a:ext cx="9030600" cy="2887200"/>
          </a:xfrm>
          <a:prstGeom prst="rect">
            <a:avLst/>
          </a:prstGeom>
          <a:ln>
            <a:noFill/>
          </a:ln>
        </p:spPr>
      </p:pic>
      <p:sp>
        <p:nvSpPr>
          <p:cNvPr id="2" name="TextShape 1">
            <a:extLst>
              <a:ext uri="{FF2B5EF4-FFF2-40B4-BE49-F238E27FC236}">
                <a16:creationId xmlns:a16="http://schemas.microsoft.com/office/drawing/2014/main" id="{CDF56E12-EB44-CF3E-D4DF-B10A38F3D31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a:t>
            </a:fld>
            <a:endParaRPr lang="en-US" sz="1400" b="0" strike="noStrike" spc="-1">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TextShape 1"/>
          <p:cNvSpPr txBox="1"/>
          <p:nvPr/>
        </p:nvSpPr>
        <p:spPr>
          <a:xfrm>
            <a:off x="724320" y="1371600"/>
            <a:ext cx="5676480" cy="592200"/>
          </a:xfrm>
          <a:prstGeom prst="rect">
            <a:avLst/>
          </a:prstGeom>
          <a:noFill/>
          <a:ln>
            <a:noFill/>
          </a:ln>
        </p:spPr>
        <p:txBody>
          <a:bodyPr lIns="0" tIns="0" rIns="0" bIns="0">
            <a:noAutofit/>
          </a:bodyPr>
          <a:lstStyle/>
          <a:p>
            <a:pPr marL="808200" indent="-806400" algn="ctr">
              <a:tabLst>
                <a:tab pos="0" algn="l"/>
              </a:tabLst>
            </a:pPr>
            <a:r>
              <a:rPr lang="en-US" sz="3200" b="1" spc="-1" dirty="0">
                <a:solidFill>
                  <a:srgbClr val="0070C0"/>
                </a:solidFill>
                <a:ea typeface="ＭＳ Ｐゴシック"/>
              </a:rPr>
              <a:t>Virtual Electrochemist</a:t>
            </a:r>
            <a:endParaRPr lang="en-GB" sz="3200" b="1" spc="-1" dirty="0">
              <a:solidFill>
                <a:srgbClr val="0070C0"/>
              </a:solidFill>
              <a:ea typeface="ＭＳ Ｐゴシック"/>
            </a:endParaRPr>
          </a:p>
        </p:txBody>
      </p:sp>
      <p:sp>
        <p:nvSpPr>
          <p:cNvPr id="2" name="TextShape 1">
            <a:extLst>
              <a:ext uri="{FF2B5EF4-FFF2-40B4-BE49-F238E27FC236}">
                <a16:creationId xmlns:a16="http://schemas.microsoft.com/office/drawing/2014/main" id="{8355C7F1-1678-E14B-DB74-9BA6C338D065}"/>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2</a:t>
            </a:fld>
            <a:endParaRPr lang="en-US" sz="1400" b="0" strike="noStrike" spc="-1">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F61B-1361-867C-6177-2E45BE0EC88C}"/>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50547936-DB96-4CC9-016F-05ED9197D062}"/>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3</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9EE8544-5F96-68AB-F153-68647C989E42}"/>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20663545-5F19-FD74-52D0-B7B0839ECA20}"/>
              </a:ext>
            </a:extLst>
          </p:cNvPr>
          <p:cNvSpPr txBox="1"/>
          <p:nvPr/>
        </p:nvSpPr>
        <p:spPr>
          <a:xfrm>
            <a:off x="366006" y="963568"/>
            <a:ext cx="5729994" cy="338554"/>
          </a:xfrm>
          <a:prstGeom prst="rect">
            <a:avLst/>
          </a:prstGeom>
          <a:noFill/>
        </p:spPr>
        <p:txBody>
          <a:bodyPr wrap="square" rtlCol="0">
            <a:spAutoFit/>
          </a:bodyPr>
          <a:lstStyle/>
          <a:p>
            <a:pPr>
              <a:buClr>
                <a:schemeClr val="tx2">
                  <a:lumMod val="60000"/>
                  <a:lumOff val="40000"/>
                </a:schemeClr>
              </a:buClr>
            </a:pPr>
            <a:r>
              <a:rPr lang="en-GB" sz="1600" dirty="0"/>
              <a:t>Start Page </a:t>
            </a:r>
            <a:endParaRPr lang="en-US" sz="1600" dirty="0"/>
          </a:p>
        </p:txBody>
      </p:sp>
      <p:pic>
        <p:nvPicPr>
          <p:cNvPr id="7" name="Picture 6">
            <a:extLst>
              <a:ext uri="{FF2B5EF4-FFF2-40B4-BE49-F238E27FC236}">
                <a16:creationId xmlns:a16="http://schemas.microsoft.com/office/drawing/2014/main" id="{EC5B1775-0416-4996-EC5E-CD2FD18609C9}"/>
              </a:ext>
            </a:extLst>
          </p:cNvPr>
          <p:cNvPicPr>
            <a:picLocks noChangeAspect="1"/>
          </p:cNvPicPr>
          <p:nvPr/>
        </p:nvPicPr>
        <p:blipFill>
          <a:blip r:embed="rId3"/>
          <a:srcRect t="6346"/>
          <a:stretch>
            <a:fillRect/>
          </a:stretch>
        </p:blipFill>
        <p:spPr>
          <a:xfrm>
            <a:off x="1632154" y="1052052"/>
            <a:ext cx="9406358" cy="4400129"/>
          </a:xfrm>
          <a:prstGeom prst="rect">
            <a:avLst/>
          </a:prstGeom>
        </p:spPr>
      </p:pic>
    </p:spTree>
    <p:extLst>
      <p:ext uri="{BB962C8B-B14F-4D97-AF65-F5344CB8AC3E}">
        <p14:creationId xmlns:p14="http://schemas.microsoft.com/office/powerpoint/2010/main" val="1667287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579AD-DC76-743B-DB57-597744F8FF1B}"/>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4D0C476-F855-DA2F-EC38-9989B1A683A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4</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60ECAF3-CC84-0C8D-06B2-E8B66048B599}"/>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36614A75-18E5-7F39-8DD0-56756B22845E}"/>
              </a:ext>
            </a:extLst>
          </p:cNvPr>
          <p:cNvSpPr txBox="1"/>
          <p:nvPr/>
        </p:nvSpPr>
        <p:spPr>
          <a:xfrm>
            <a:off x="366005" y="963568"/>
            <a:ext cx="1974071" cy="1815882"/>
          </a:xfrm>
          <a:prstGeom prst="rect">
            <a:avLst/>
          </a:prstGeom>
          <a:noFill/>
        </p:spPr>
        <p:txBody>
          <a:bodyPr wrap="square" rtlCol="0">
            <a:spAutoFit/>
          </a:bodyPr>
          <a:lstStyle/>
          <a:p>
            <a:r>
              <a:rPr lang="en-GB" sz="1600" dirty="0"/>
              <a:t>Page for receiving the consent from the user that will use the details recorded for postprocessing analysis.</a:t>
            </a:r>
            <a:endParaRPr lang="en-GB" sz="1600" dirty="0">
              <a:effectLst/>
            </a:endParaRPr>
          </a:p>
        </p:txBody>
      </p:sp>
      <p:pic>
        <p:nvPicPr>
          <p:cNvPr id="3" name="Picture 2">
            <a:extLst>
              <a:ext uri="{FF2B5EF4-FFF2-40B4-BE49-F238E27FC236}">
                <a16:creationId xmlns:a16="http://schemas.microsoft.com/office/drawing/2014/main" id="{63A916A7-56A6-6A36-23C9-89CE8D02AAFD}"/>
              </a:ext>
            </a:extLst>
          </p:cNvPr>
          <p:cNvPicPr>
            <a:picLocks noChangeAspect="1"/>
          </p:cNvPicPr>
          <p:nvPr/>
        </p:nvPicPr>
        <p:blipFill>
          <a:blip r:embed="rId3"/>
          <a:stretch>
            <a:fillRect/>
          </a:stretch>
        </p:blipFill>
        <p:spPr>
          <a:xfrm>
            <a:off x="2452592" y="963569"/>
            <a:ext cx="9142827" cy="4385180"/>
          </a:xfrm>
          <a:prstGeom prst="rect">
            <a:avLst/>
          </a:prstGeom>
        </p:spPr>
      </p:pic>
    </p:spTree>
    <p:extLst>
      <p:ext uri="{BB962C8B-B14F-4D97-AF65-F5344CB8AC3E}">
        <p14:creationId xmlns:p14="http://schemas.microsoft.com/office/powerpoint/2010/main" val="46945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16DD-84E3-5738-D955-47ECCCC3322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9112193E-CB4F-0859-4DB7-96B739DDD13A}"/>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5</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B7D7D3CC-AF15-5F43-EF0E-AB76AF69D4AA}"/>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06455388-1BD8-59F3-4C82-737D0DE5F8D4}"/>
              </a:ext>
            </a:extLst>
          </p:cNvPr>
          <p:cNvSpPr txBox="1"/>
          <p:nvPr/>
        </p:nvSpPr>
        <p:spPr>
          <a:xfrm>
            <a:off x="340769" y="963568"/>
            <a:ext cx="1846252" cy="1323439"/>
          </a:xfrm>
          <a:prstGeom prst="rect">
            <a:avLst/>
          </a:prstGeom>
          <a:noFill/>
        </p:spPr>
        <p:txBody>
          <a:bodyPr wrap="square" rtlCol="0">
            <a:spAutoFit/>
          </a:bodyPr>
          <a:lstStyle/>
          <a:p>
            <a:r>
              <a:rPr lang="en-GB" sz="1600" dirty="0"/>
              <a:t>Experiment details so the participants give the feedback records.</a:t>
            </a:r>
            <a:endParaRPr lang="en-GB" sz="1600" dirty="0">
              <a:effectLst/>
            </a:endParaRPr>
          </a:p>
        </p:txBody>
      </p:sp>
      <p:pic>
        <p:nvPicPr>
          <p:cNvPr id="4" name="Picture 3">
            <a:extLst>
              <a:ext uri="{FF2B5EF4-FFF2-40B4-BE49-F238E27FC236}">
                <a16:creationId xmlns:a16="http://schemas.microsoft.com/office/drawing/2014/main" id="{8C461353-D19B-CE90-FF30-AFE8581444F3}"/>
              </a:ext>
            </a:extLst>
          </p:cNvPr>
          <p:cNvPicPr>
            <a:picLocks noChangeAspect="1"/>
          </p:cNvPicPr>
          <p:nvPr/>
        </p:nvPicPr>
        <p:blipFill>
          <a:blip r:embed="rId3"/>
          <a:stretch>
            <a:fillRect/>
          </a:stretch>
        </p:blipFill>
        <p:spPr>
          <a:xfrm>
            <a:off x="2084438" y="963568"/>
            <a:ext cx="9820401" cy="4687842"/>
          </a:xfrm>
          <a:prstGeom prst="rect">
            <a:avLst/>
          </a:prstGeom>
        </p:spPr>
      </p:pic>
    </p:spTree>
    <p:extLst>
      <p:ext uri="{BB962C8B-B14F-4D97-AF65-F5344CB8AC3E}">
        <p14:creationId xmlns:p14="http://schemas.microsoft.com/office/powerpoint/2010/main" val="104533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97D4-0B01-A677-6441-6788A6A4A4F2}"/>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5D978671-60FC-C1AC-6286-2BD6E53F29D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6</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E2375E04-8930-4850-5E00-F8177EE01E21}"/>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DBA41C71-3075-521C-E337-D0E59CB1A35D}"/>
              </a:ext>
            </a:extLst>
          </p:cNvPr>
          <p:cNvSpPr txBox="1"/>
          <p:nvPr/>
        </p:nvSpPr>
        <p:spPr>
          <a:xfrm>
            <a:off x="340769" y="963568"/>
            <a:ext cx="1812496" cy="923330"/>
          </a:xfrm>
          <a:prstGeom prst="rect">
            <a:avLst/>
          </a:prstGeom>
          <a:noFill/>
        </p:spPr>
        <p:txBody>
          <a:bodyPr wrap="square" rtlCol="0">
            <a:spAutoFit/>
          </a:bodyPr>
          <a:lstStyle/>
          <a:p>
            <a:r>
              <a:rPr lang="en-US" dirty="0"/>
              <a:t>Page to add the experimental metadata.</a:t>
            </a:r>
          </a:p>
        </p:txBody>
      </p:sp>
      <p:pic>
        <p:nvPicPr>
          <p:cNvPr id="3" name="Picture 2">
            <a:extLst>
              <a:ext uri="{FF2B5EF4-FFF2-40B4-BE49-F238E27FC236}">
                <a16:creationId xmlns:a16="http://schemas.microsoft.com/office/drawing/2014/main" id="{4CADD745-0E80-BC41-C8B3-0D09F9E98A30}"/>
              </a:ext>
            </a:extLst>
          </p:cNvPr>
          <p:cNvPicPr>
            <a:picLocks noChangeAspect="1"/>
          </p:cNvPicPr>
          <p:nvPr/>
        </p:nvPicPr>
        <p:blipFill>
          <a:blip r:embed="rId3"/>
          <a:stretch>
            <a:fillRect/>
          </a:stretch>
        </p:blipFill>
        <p:spPr>
          <a:xfrm>
            <a:off x="2074606" y="788170"/>
            <a:ext cx="10009242" cy="4836536"/>
          </a:xfrm>
          <a:prstGeom prst="rect">
            <a:avLst/>
          </a:prstGeom>
        </p:spPr>
      </p:pic>
    </p:spTree>
    <p:extLst>
      <p:ext uri="{BB962C8B-B14F-4D97-AF65-F5344CB8AC3E}">
        <p14:creationId xmlns:p14="http://schemas.microsoft.com/office/powerpoint/2010/main" val="10020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1F27-3BF6-3755-E70D-61E9E86778D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717D177F-F0F8-C557-2541-ED71515B93FE}"/>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7</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58C668D0-0EED-544B-4B5F-EA1465BABE84}"/>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X</a:t>
            </a:r>
            <a:r>
              <a:rPr lang="en-US" sz="2400" b="1" spc="-1" dirty="0">
                <a:solidFill>
                  <a:srgbClr val="0070C0"/>
                </a:solidFill>
                <a:latin typeface="Arial"/>
                <a:ea typeface="ＭＳ Ｐゴシック"/>
              </a:rPr>
              <a:t>RD</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B8D4A16F-BA2D-5315-4C6F-04918C2BC15E}"/>
              </a:ext>
            </a:extLst>
          </p:cNvPr>
          <p:cNvSpPr txBox="1"/>
          <p:nvPr/>
        </p:nvSpPr>
        <p:spPr>
          <a:xfrm>
            <a:off x="437066" y="903211"/>
            <a:ext cx="11467774" cy="646331"/>
          </a:xfrm>
          <a:prstGeom prst="rect">
            <a:avLst/>
          </a:prstGeom>
          <a:noFill/>
        </p:spPr>
        <p:txBody>
          <a:bodyPr wrap="square" rtlCol="0">
            <a:spAutoFit/>
          </a:bodyPr>
          <a:lstStyle/>
          <a:p>
            <a:r>
              <a:rPr lang="en-GB" dirty="0"/>
              <a:t>An </a:t>
            </a:r>
            <a:r>
              <a:rPr lang="en-GB" b="1" dirty="0"/>
              <a:t>autoencoder</a:t>
            </a:r>
            <a:r>
              <a:rPr lang="en-GB" dirty="0"/>
              <a:t> encodes the XRD pattern into a latent representation. If the </a:t>
            </a:r>
            <a:r>
              <a:rPr lang="en-GB" b="1" dirty="0"/>
              <a:t>chemical composition</a:t>
            </a:r>
            <a:r>
              <a:rPr lang="en-GB" dirty="0"/>
              <a:t> is available, a </a:t>
            </a:r>
            <a:r>
              <a:rPr lang="en-GB" b="1" dirty="0"/>
              <a:t>Qwen model</a:t>
            </a:r>
            <a:r>
              <a:rPr lang="en-GB" dirty="0"/>
              <a:t> processes it to generate a complementary embedding.</a:t>
            </a:r>
            <a:endParaRPr lang="en-US" dirty="0"/>
          </a:p>
        </p:txBody>
      </p:sp>
      <p:pic>
        <p:nvPicPr>
          <p:cNvPr id="6" name="Picture 5" descr="A screenshot of a computer&#10;&#10;AI-generated content may be incorrect.">
            <a:extLst>
              <a:ext uri="{FF2B5EF4-FFF2-40B4-BE49-F238E27FC236}">
                <a16:creationId xmlns:a16="http://schemas.microsoft.com/office/drawing/2014/main" id="{657C05CF-CC3D-E767-573D-DA93FBDDCA1E}"/>
              </a:ext>
            </a:extLst>
          </p:cNvPr>
          <p:cNvPicPr>
            <a:picLocks noChangeAspect="1"/>
          </p:cNvPicPr>
          <p:nvPr/>
        </p:nvPicPr>
        <p:blipFill>
          <a:blip r:embed="rId3"/>
          <a:stretch>
            <a:fillRect/>
          </a:stretch>
        </p:blipFill>
        <p:spPr>
          <a:xfrm>
            <a:off x="1408106" y="2314880"/>
            <a:ext cx="9525693" cy="3748064"/>
          </a:xfrm>
          <a:prstGeom prst="rect">
            <a:avLst/>
          </a:prstGeom>
        </p:spPr>
      </p:pic>
    </p:spTree>
    <p:extLst>
      <p:ext uri="{BB962C8B-B14F-4D97-AF65-F5344CB8AC3E}">
        <p14:creationId xmlns:p14="http://schemas.microsoft.com/office/powerpoint/2010/main" val="231530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4014-ABD2-2212-BC75-6A3BC8AEFC03}"/>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A50A3582-9E2B-B350-DC94-A089CBB25058}"/>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8</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50219239-2B76-D578-3FB5-4DA8885500A1}"/>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X</a:t>
            </a:r>
            <a:r>
              <a:rPr lang="en-US" sz="2400" b="1" spc="-1" dirty="0">
                <a:solidFill>
                  <a:srgbClr val="0070C0"/>
                </a:solidFill>
                <a:latin typeface="Arial"/>
                <a:ea typeface="ＭＳ Ｐゴシック"/>
              </a:rPr>
              <a:t>RD</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026A7DD8-FEFB-5AF9-2F5D-FEBB14EF1357}"/>
              </a:ext>
            </a:extLst>
          </p:cNvPr>
          <p:cNvSpPr txBox="1"/>
          <p:nvPr/>
        </p:nvSpPr>
        <p:spPr>
          <a:xfrm>
            <a:off x="437066" y="903211"/>
            <a:ext cx="11467774" cy="5078313"/>
          </a:xfrm>
          <a:prstGeom prst="rect">
            <a:avLst/>
          </a:prstGeom>
          <a:noFill/>
        </p:spPr>
        <p:txBody>
          <a:bodyPr wrap="square" rtlCol="0">
            <a:spAutoFit/>
          </a:bodyPr>
          <a:lstStyle/>
          <a:p>
            <a:r>
              <a:rPr lang="en-GB" dirty="0"/>
              <a:t>A query XRD pattern, together with the chemical composition, is first passed into a </a:t>
            </a:r>
            <a:r>
              <a:rPr lang="en-GB" b="1" dirty="0"/>
              <a:t>representation learning model</a:t>
            </a:r>
            <a:r>
              <a:rPr lang="en-GB" dirty="0"/>
              <a:t> (encoder–decoder architecture, based on a Qwen LLM). The model maps the input into a </a:t>
            </a:r>
            <a:r>
              <a:rPr lang="en-GB" b="1" dirty="0"/>
              <a:t>latent space embedding</a:t>
            </a:r>
            <a:r>
              <a:rPr lang="en-GB" dirty="0"/>
              <a:t> that captures structural and chemical features.</a:t>
            </a:r>
          </a:p>
          <a:p>
            <a:endParaRPr lang="en-GB" dirty="0"/>
          </a:p>
          <a:p>
            <a:r>
              <a:rPr lang="en-GB" dirty="0"/>
              <a:t>The learned representation is then compared against a </a:t>
            </a:r>
            <a:r>
              <a:rPr lang="en-GB" b="1" dirty="0"/>
              <a:t>reference database</a:t>
            </a:r>
            <a:r>
              <a:rPr lang="en-GB" dirty="0"/>
              <a:t>, which includes:</a:t>
            </a:r>
          </a:p>
          <a:p>
            <a:endParaRPr lang="en-GB" dirty="0"/>
          </a:p>
          <a:p>
            <a:pPr marL="285750" indent="-285750">
              <a:buFont typeface="Arial" panose="020B0604020202020204" pitchFamily="34" charset="0"/>
              <a:buChar char="•"/>
            </a:pPr>
            <a:r>
              <a:rPr lang="en-GB" dirty="0"/>
              <a:t>IG peak database</a:t>
            </a:r>
          </a:p>
          <a:p>
            <a:pPr marL="285750" indent="-285750">
              <a:buFont typeface="Arial" panose="020B0604020202020204" pitchFamily="34" charset="0"/>
              <a:buChar char="•"/>
            </a:pPr>
            <a:r>
              <a:rPr lang="en-GB" dirty="0"/>
              <a:t>Latent embedding database</a:t>
            </a:r>
          </a:p>
          <a:p>
            <a:pPr marL="285750" indent="-285750">
              <a:buFont typeface="Arial" panose="020B0604020202020204" pitchFamily="34" charset="0"/>
              <a:buChar char="•"/>
            </a:pPr>
            <a:r>
              <a:rPr lang="en-GB" dirty="0"/>
              <a:t>Chemical embedding database</a:t>
            </a:r>
          </a:p>
          <a:p>
            <a:pPr marL="285750" indent="-285750">
              <a:buFont typeface="Arial" panose="020B0604020202020204" pitchFamily="34" charset="0"/>
              <a:buChar char="•"/>
            </a:pPr>
            <a:endParaRPr lang="en-GB" dirty="0"/>
          </a:p>
          <a:p>
            <a:r>
              <a:rPr lang="en-GB" dirty="0"/>
              <a:t>In the final stage, multiple matching strategies are applied, including:</a:t>
            </a:r>
          </a:p>
          <a:p>
            <a:r>
              <a:rPr lang="en-GB" dirty="0"/>
              <a:t>Parametric classification</a:t>
            </a:r>
          </a:p>
          <a:p>
            <a:pPr marL="285750" indent="-285750">
              <a:buFont typeface="Arial" panose="020B0604020202020204" pitchFamily="34" charset="0"/>
              <a:buChar char="•"/>
            </a:pPr>
            <a:r>
              <a:rPr lang="en-GB" dirty="0"/>
              <a:t>IG peak matching</a:t>
            </a:r>
          </a:p>
          <a:p>
            <a:pPr marL="285750" indent="-285750">
              <a:buFont typeface="Arial" panose="020B0604020202020204" pitchFamily="34" charset="0"/>
              <a:buChar char="•"/>
            </a:pPr>
            <a:r>
              <a:rPr lang="en-GB" dirty="0"/>
              <a:t>Cosine similarity retrieval in latent space</a:t>
            </a:r>
          </a:p>
          <a:p>
            <a:pPr marL="285750" indent="-285750">
              <a:buFont typeface="Arial" panose="020B0604020202020204" pitchFamily="34" charset="0"/>
              <a:buChar char="•"/>
            </a:pPr>
            <a:r>
              <a:rPr lang="en-GB" dirty="0"/>
              <a:t>Chemical similarity search</a:t>
            </a:r>
          </a:p>
          <a:p>
            <a:endParaRPr lang="en-GB" dirty="0"/>
          </a:p>
          <a:p>
            <a:r>
              <a:rPr lang="en-GB" dirty="0"/>
              <a:t>The results are aggregated and ranked, producing a </a:t>
            </a:r>
            <a:r>
              <a:rPr lang="en-GB" b="1" dirty="0"/>
              <a:t>ranked list of candidate phases</a:t>
            </a:r>
            <a:r>
              <a:rPr lang="en-GB" dirty="0"/>
              <a:t> (e.g., Phase X, Phase Y, Phase Z) based on similarity scores.</a:t>
            </a:r>
          </a:p>
        </p:txBody>
      </p:sp>
    </p:spTree>
    <p:extLst>
      <p:ext uri="{BB962C8B-B14F-4D97-AF65-F5344CB8AC3E}">
        <p14:creationId xmlns:p14="http://schemas.microsoft.com/office/powerpoint/2010/main" val="411093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43553-9639-1B16-5934-7729E760E6EF}"/>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61338F9-D34B-6243-01AC-4BCAEFFEBDE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9</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655ACE6-9EFB-8D5D-4778-BEB2E6B141B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Dataset </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396E29A2-1E98-9FE0-F2DF-43235D59EF33}"/>
              </a:ext>
            </a:extLst>
          </p:cNvPr>
          <p:cNvSpPr txBox="1"/>
          <p:nvPr/>
        </p:nvSpPr>
        <p:spPr>
          <a:xfrm>
            <a:off x="437065" y="903211"/>
            <a:ext cx="10407915" cy="2308324"/>
          </a:xfrm>
          <a:prstGeom prst="rect">
            <a:avLst/>
          </a:prstGeom>
          <a:noFill/>
        </p:spPr>
        <p:txBody>
          <a:bodyPr wrap="square" rtlCol="0">
            <a:spAutoFit/>
          </a:bodyPr>
          <a:lstStyle/>
          <a:p>
            <a:r>
              <a:rPr lang="en-GB" dirty="0"/>
              <a:t>The dataset was collected from the Crystallography Open Database (COD) and the Materials Project. In total, we obtained 49,000 CIF files for crystal system classification. To enhance the dataset, we applied data augmentation by generating 15 additional samples from each CIF file.</a:t>
            </a:r>
          </a:p>
          <a:p>
            <a:endParaRPr lang="en-GB" dirty="0"/>
          </a:p>
          <a:p>
            <a:endParaRPr lang="en-GB" dirty="0"/>
          </a:p>
          <a:p>
            <a:r>
              <a:rPr lang="en-GB" dirty="0"/>
              <a:t>For space group classification, we used 34,500 CIF files covering 23 space groups. These were carefully selected to construct a balanced dataset suitable for classification tasks.</a:t>
            </a:r>
          </a:p>
          <a:p>
            <a:endParaRPr lang="en-US" dirty="0"/>
          </a:p>
        </p:txBody>
      </p:sp>
    </p:spTree>
    <p:extLst>
      <p:ext uri="{BB962C8B-B14F-4D97-AF65-F5344CB8AC3E}">
        <p14:creationId xmlns:p14="http://schemas.microsoft.com/office/powerpoint/2010/main" val="1886038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79C0F-4B22-1A66-D657-50EE611E4E2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8383C744-2DDC-B232-AD66-58B225FA46F2}"/>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10</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13579BDC-4654-B8AC-A78E-A208FD46AFA3}"/>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Augmentation example </a:t>
            </a:r>
            <a:endParaRPr lang="de-DE" sz="2400" b="1" spc="-1" dirty="0">
              <a:solidFill>
                <a:srgbClr val="0070C0"/>
              </a:solidFill>
              <a:latin typeface="Arial"/>
              <a:ea typeface="ＭＳ Ｐゴシック"/>
            </a:endParaRPr>
          </a:p>
        </p:txBody>
      </p:sp>
      <p:pic>
        <p:nvPicPr>
          <p:cNvPr id="4" name="Picture 3" descr="A graph of a graph&#10;&#10;AI-generated content may be incorrect.">
            <a:extLst>
              <a:ext uri="{FF2B5EF4-FFF2-40B4-BE49-F238E27FC236}">
                <a16:creationId xmlns:a16="http://schemas.microsoft.com/office/drawing/2014/main" id="{6C7516F7-2395-7304-E4CB-95C68560B649}"/>
              </a:ext>
            </a:extLst>
          </p:cNvPr>
          <p:cNvPicPr>
            <a:picLocks noChangeAspect="1"/>
          </p:cNvPicPr>
          <p:nvPr/>
        </p:nvPicPr>
        <p:blipFill>
          <a:blip r:embed="rId3"/>
          <a:stretch>
            <a:fillRect/>
          </a:stretch>
        </p:blipFill>
        <p:spPr>
          <a:xfrm>
            <a:off x="98323" y="3475703"/>
            <a:ext cx="5084967" cy="2513482"/>
          </a:xfrm>
          <a:prstGeom prst="rect">
            <a:avLst/>
          </a:prstGeom>
        </p:spPr>
      </p:pic>
      <p:pic>
        <p:nvPicPr>
          <p:cNvPr id="5" name="Picture 4" descr="A graph of a number of colored lines&#10;&#10;AI-generated content may be incorrect.">
            <a:extLst>
              <a:ext uri="{FF2B5EF4-FFF2-40B4-BE49-F238E27FC236}">
                <a16:creationId xmlns:a16="http://schemas.microsoft.com/office/drawing/2014/main" id="{5C1E83AE-1FE5-6E2A-9FDA-C38AB3FBC262}"/>
              </a:ext>
            </a:extLst>
          </p:cNvPr>
          <p:cNvPicPr>
            <a:picLocks noChangeAspect="1"/>
          </p:cNvPicPr>
          <p:nvPr/>
        </p:nvPicPr>
        <p:blipFill>
          <a:blip r:embed="rId4"/>
          <a:stretch>
            <a:fillRect/>
          </a:stretch>
        </p:blipFill>
        <p:spPr>
          <a:xfrm>
            <a:off x="3919349" y="288720"/>
            <a:ext cx="8076466" cy="4818114"/>
          </a:xfrm>
          <a:prstGeom prst="rect">
            <a:avLst/>
          </a:prstGeom>
        </p:spPr>
      </p:pic>
    </p:spTree>
    <p:extLst>
      <p:ext uri="{BB962C8B-B14F-4D97-AF65-F5344CB8AC3E}">
        <p14:creationId xmlns:p14="http://schemas.microsoft.com/office/powerpoint/2010/main" val="331652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4DD5-3721-83D1-B48F-D9886B482F63}"/>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6AC2E135-C082-2508-0996-DE69A1840A4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11</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6FFFE95E-3275-2963-C84F-5A141A107EA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latin typeface="Arial"/>
                <a:ea typeface="ＭＳ Ｐゴシック"/>
              </a:rPr>
              <a:t>Model Performance for Crystal System</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2E1034AD-9924-E3B7-8EFA-279AE44EF6C3}"/>
              </a:ext>
            </a:extLst>
          </p:cNvPr>
          <p:cNvSpPr txBox="1"/>
          <p:nvPr/>
        </p:nvSpPr>
        <p:spPr>
          <a:xfrm>
            <a:off x="437065" y="903211"/>
            <a:ext cx="10407915" cy="1200329"/>
          </a:xfrm>
          <a:prstGeom prst="rect">
            <a:avLst/>
          </a:prstGeom>
          <a:noFill/>
        </p:spPr>
        <p:txBody>
          <a:bodyPr wrap="square" rtlCol="0">
            <a:spAutoFit/>
          </a:bodyPr>
          <a:lstStyle/>
          <a:p>
            <a:r>
              <a:rPr lang="en-GB" dirty="0"/>
              <a:t>The model demonstrates strong performance on the primary dataset, achieving a reconstruction error of 0.000341 on the test set. When evaluated on external datasets, the reconstruction errors remain low (0.0004 for RRUFF and 0.00037 for </a:t>
            </a:r>
            <a:r>
              <a:rPr lang="en-GB" dirty="0" err="1"/>
              <a:t>NiCoAl</a:t>
            </a:r>
            <a:r>
              <a:rPr lang="en-GB" dirty="0"/>
              <a:t>), suggesting robust generalization across different data distributions.</a:t>
            </a:r>
          </a:p>
        </p:txBody>
      </p:sp>
      <p:graphicFrame>
        <p:nvGraphicFramePr>
          <p:cNvPr id="2" name="Table 1">
            <a:extLst>
              <a:ext uri="{FF2B5EF4-FFF2-40B4-BE49-F238E27FC236}">
                <a16:creationId xmlns:a16="http://schemas.microsoft.com/office/drawing/2014/main" id="{AEE34B71-2D90-ACC9-0FF5-5CD6239BB249}"/>
              </a:ext>
            </a:extLst>
          </p:cNvPr>
          <p:cNvGraphicFramePr>
            <a:graphicFrameLocks noGrp="1"/>
          </p:cNvGraphicFramePr>
          <p:nvPr>
            <p:extLst>
              <p:ext uri="{D42A27DB-BD31-4B8C-83A1-F6EECF244321}">
                <p14:modId xmlns:p14="http://schemas.microsoft.com/office/powerpoint/2010/main" val="758286323"/>
              </p:ext>
            </p:extLst>
          </p:nvPr>
        </p:nvGraphicFramePr>
        <p:xfrm>
          <a:off x="1248697" y="2302663"/>
          <a:ext cx="8911304" cy="2021840"/>
        </p:xfrm>
        <a:graphic>
          <a:graphicData uri="http://schemas.openxmlformats.org/drawingml/2006/table">
            <a:tbl>
              <a:tblPr firstRow="1" bandRow="1">
                <a:tableStyleId>{93296810-A885-4BE3-A3E7-6D5BEEA58F35}</a:tableStyleId>
              </a:tblPr>
              <a:tblGrid>
                <a:gridCol w="3008671">
                  <a:extLst>
                    <a:ext uri="{9D8B030D-6E8A-4147-A177-3AD203B41FA5}">
                      <a16:colId xmlns:a16="http://schemas.microsoft.com/office/drawing/2014/main" val="2831909995"/>
                    </a:ext>
                  </a:extLst>
                </a:gridCol>
                <a:gridCol w="1446981">
                  <a:extLst>
                    <a:ext uri="{9D8B030D-6E8A-4147-A177-3AD203B41FA5}">
                      <a16:colId xmlns:a16="http://schemas.microsoft.com/office/drawing/2014/main" val="641837208"/>
                    </a:ext>
                  </a:extLst>
                </a:gridCol>
                <a:gridCol w="2227826">
                  <a:extLst>
                    <a:ext uri="{9D8B030D-6E8A-4147-A177-3AD203B41FA5}">
                      <a16:colId xmlns:a16="http://schemas.microsoft.com/office/drawing/2014/main" val="1675086973"/>
                    </a:ext>
                  </a:extLst>
                </a:gridCol>
                <a:gridCol w="2227826">
                  <a:extLst>
                    <a:ext uri="{9D8B030D-6E8A-4147-A177-3AD203B41FA5}">
                      <a16:colId xmlns:a16="http://schemas.microsoft.com/office/drawing/2014/main" val="2614005733"/>
                    </a:ext>
                  </a:extLst>
                </a:gridCol>
              </a:tblGrid>
              <a:tr h="370840">
                <a:tc>
                  <a:txBody>
                    <a:bodyPr/>
                    <a:lstStyle/>
                    <a:p>
                      <a:r>
                        <a:rPr lang="en-GB" dirty="0"/>
                        <a:t>Test Dataset</a:t>
                      </a:r>
                      <a:endParaRPr lang="en-US" dirty="0"/>
                    </a:p>
                  </a:txBody>
                  <a:tcPr/>
                </a:tc>
                <a:tc>
                  <a:txBody>
                    <a:bodyPr/>
                    <a:lstStyle/>
                    <a:p>
                      <a:r>
                        <a:rPr lang="en-GB" dirty="0"/>
                        <a:t>Number of CIFS</a:t>
                      </a:r>
                      <a:endParaRPr lang="en-US" dirty="0"/>
                    </a:p>
                  </a:txBody>
                  <a:tcPr/>
                </a:tc>
                <a:tc>
                  <a:txBody>
                    <a:bodyPr/>
                    <a:lstStyle/>
                    <a:p>
                      <a:r>
                        <a:rPr lang="en-GB" dirty="0"/>
                        <a:t>Model Accuracy</a:t>
                      </a:r>
                      <a:endParaRPr lang="en-US" dirty="0"/>
                    </a:p>
                  </a:txBody>
                  <a:tcPr/>
                </a:tc>
                <a:tc>
                  <a:txBody>
                    <a:bodyPr/>
                    <a:lstStyle/>
                    <a:p>
                      <a:r>
                        <a:rPr lang="en-GB" dirty="0"/>
                        <a:t>Cosine similarity</a:t>
                      </a:r>
                      <a:endParaRPr lang="en-US" dirty="0"/>
                    </a:p>
                  </a:txBody>
                  <a:tcPr/>
                </a:tc>
                <a:extLst>
                  <a:ext uri="{0D108BD9-81ED-4DB2-BD59-A6C34878D82A}">
                    <a16:rowId xmlns:a16="http://schemas.microsoft.com/office/drawing/2014/main" val="336107980"/>
                  </a:ext>
                </a:extLst>
              </a:tr>
              <a:tr h="370840">
                <a:tc>
                  <a:txBody>
                    <a:bodyPr/>
                    <a:lstStyle/>
                    <a:p>
                      <a:r>
                        <a:rPr lang="en-GB" dirty="0"/>
                        <a:t>10% holdout set from the (MP) and COD dataset</a:t>
                      </a:r>
                      <a:endParaRPr lang="en-US" dirty="0"/>
                    </a:p>
                  </a:txBody>
                  <a:tcPr/>
                </a:tc>
                <a:tc>
                  <a:txBody>
                    <a:bodyPr/>
                    <a:lstStyle/>
                    <a:p>
                      <a:r>
                        <a:rPr lang="en-GB" dirty="0"/>
                        <a:t>4,900</a:t>
                      </a:r>
                      <a:endParaRPr lang="en-US" dirty="0"/>
                    </a:p>
                  </a:txBody>
                  <a:tcPr/>
                </a:tc>
                <a:tc>
                  <a:txBody>
                    <a:bodyPr/>
                    <a:lstStyle/>
                    <a:p>
                      <a:r>
                        <a:rPr lang="en-GB" dirty="0"/>
                        <a:t>95.6%</a:t>
                      </a:r>
                      <a:endParaRPr lang="en-US" dirty="0"/>
                    </a:p>
                  </a:txBody>
                  <a:tcPr/>
                </a:tc>
                <a:tc>
                  <a:txBody>
                    <a:bodyPr/>
                    <a:lstStyle/>
                    <a:p>
                      <a:r>
                        <a:rPr lang="en-GB" dirty="0"/>
                        <a:t>70%</a:t>
                      </a:r>
                      <a:endParaRPr lang="en-US" dirty="0"/>
                    </a:p>
                  </a:txBody>
                  <a:tcPr/>
                </a:tc>
                <a:extLst>
                  <a:ext uri="{0D108BD9-81ED-4DB2-BD59-A6C34878D82A}">
                    <a16:rowId xmlns:a16="http://schemas.microsoft.com/office/drawing/2014/main" val="838490495"/>
                  </a:ext>
                </a:extLst>
              </a:tr>
              <a:tr h="370840">
                <a:tc>
                  <a:txBody>
                    <a:bodyPr/>
                    <a:lstStyle/>
                    <a:p>
                      <a:r>
                        <a:rPr lang="en-US" dirty="0" err="1"/>
                        <a:t>NiCoAl</a:t>
                      </a:r>
                      <a:r>
                        <a:rPr lang="en-US" dirty="0"/>
                        <a:t> dataset</a:t>
                      </a:r>
                    </a:p>
                  </a:txBody>
                  <a:tcPr/>
                </a:tc>
                <a:tc>
                  <a:txBody>
                    <a:bodyPr/>
                    <a:lstStyle/>
                    <a:p>
                      <a:r>
                        <a:rPr lang="en-US" dirty="0"/>
                        <a:t>31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94.4%</a:t>
                      </a:r>
                      <a:endParaRPr lang="en-US" dirty="0"/>
                    </a:p>
                  </a:txBody>
                  <a:tcPr/>
                </a:tc>
                <a:tc>
                  <a:txBody>
                    <a:bodyPr/>
                    <a:lstStyle/>
                    <a:p>
                      <a:r>
                        <a:rPr lang="en-US" dirty="0"/>
                        <a:t>62.3%</a:t>
                      </a:r>
                    </a:p>
                  </a:txBody>
                  <a:tcPr/>
                </a:tc>
                <a:extLst>
                  <a:ext uri="{0D108BD9-81ED-4DB2-BD59-A6C34878D82A}">
                    <a16:rowId xmlns:a16="http://schemas.microsoft.com/office/drawing/2014/main" val="1969717060"/>
                  </a:ext>
                </a:extLst>
              </a:tr>
              <a:tr h="370840">
                <a:tc>
                  <a:txBody>
                    <a:bodyPr/>
                    <a:lstStyle/>
                    <a:p>
                      <a:r>
                        <a:rPr lang="en-US" dirty="0"/>
                        <a:t>RRUFF</a:t>
                      </a:r>
                    </a:p>
                  </a:txBody>
                  <a:tcPr/>
                </a:tc>
                <a:tc>
                  <a:txBody>
                    <a:bodyPr/>
                    <a:lstStyle/>
                    <a:p>
                      <a:r>
                        <a:rPr lang="en-GB" dirty="0"/>
                        <a:t>105</a:t>
                      </a:r>
                      <a:endParaRPr lang="en-US" dirty="0"/>
                    </a:p>
                  </a:txBody>
                  <a:tcPr/>
                </a:tc>
                <a:tc>
                  <a:txBody>
                    <a:bodyPr/>
                    <a:lstStyle/>
                    <a:p>
                      <a:r>
                        <a:rPr lang="en-US" dirty="0"/>
                        <a:t>72.0%</a:t>
                      </a:r>
                    </a:p>
                  </a:txBody>
                  <a:tcPr/>
                </a:tc>
                <a:tc>
                  <a:txBody>
                    <a:bodyPr/>
                    <a:lstStyle/>
                    <a:p>
                      <a:r>
                        <a:rPr lang="en-US" dirty="0"/>
                        <a:t>66.2%</a:t>
                      </a:r>
                    </a:p>
                  </a:txBody>
                  <a:tcPr/>
                </a:tc>
                <a:extLst>
                  <a:ext uri="{0D108BD9-81ED-4DB2-BD59-A6C34878D82A}">
                    <a16:rowId xmlns:a16="http://schemas.microsoft.com/office/drawing/2014/main" val="2264521428"/>
                  </a:ext>
                </a:extLst>
              </a:tr>
            </a:tbl>
          </a:graphicData>
        </a:graphic>
      </p:graphicFrame>
    </p:spTree>
    <p:extLst>
      <p:ext uri="{BB962C8B-B14F-4D97-AF65-F5344CB8AC3E}">
        <p14:creationId xmlns:p14="http://schemas.microsoft.com/office/powerpoint/2010/main" val="348569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9ADB0-B197-D5D0-7B6B-86F6CF775D36}"/>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48C49682-DA1A-CD2E-273C-E6DF255886CA}"/>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12</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B4CB3CFB-F643-AE32-3F4B-80823D323E7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Model Performance for Space Group</a:t>
            </a:r>
            <a:endParaRPr lang="de-DE" sz="2400" b="1" spc="-1" dirty="0">
              <a:solidFill>
                <a:srgbClr val="0070C0"/>
              </a:solidFill>
              <a:ea typeface="ＭＳ Ｐゴシック"/>
            </a:endParaRPr>
          </a:p>
        </p:txBody>
      </p:sp>
      <p:sp>
        <p:nvSpPr>
          <p:cNvPr id="9" name="TextBox 8">
            <a:extLst>
              <a:ext uri="{FF2B5EF4-FFF2-40B4-BE49-F238E27FC236}">
                <a16:creationId xmlns:a16="http://schemas.microsoft.com/office/drawing/2014/main" id="{BF56E9AD-2F25-36A5-F492-58C8426D306D}"/>
              </a:ext>
            </a:extLst>
          </p:cNvPr>
          <p:cNvSpPr txBox="1"/>
          <p:nvPr/>
        </p:nvSpPr>
        <p:spPr>
          <a:xfrm>
            <a:off x="437065" y="903211"/>
            <a:ext cx="10407915" cy="1200329"/>
          </a:xfrm>
          <a:prstGeom prst="rect">
            <a:avLst/>
          </a:prstGeom>
          <a:noFill/>
        </p:spPr>
        <p:txBody>
          <a:bodyPr wrap="square" rtlCol="0">
            <a:spAutoFit/>
          </a:bodyPr>
          <a:lstStyle/>
          <a:p>
            <a:r>
              <a:rPr lang="en-GB" dirty="0"/>
              <a:t>The observed decrease in space group prediction accuracy can be attributed to the inherent difficulty of multi-class classification across 23 distinct space groups. Fine-grained structural distinctions between space groups make this a significantly more challenging task compared to crystal system classification.</a:t>
            </a:r>
          </a:p>
        </p:txBody>
      </p:sp>
      <p:graphicFrame>
        <p:nvGraphicFramePr>
          <p:cNvPr id="2" name="Table 1">
            <a:extLst>
              <a:ext uri="{FF2B5EF4-FFF2-40B4-BE49-F238E27FC236}">
                <a16:creationId xmlns:a16="http://schemas.microsoft.com/office/drawing/2014/main" id="{140AE6FC-C88B-6629-D83D-E3972EC6C852}"/>
              </a:ext>
            </a:extLst>
          </p:cNvPr>
          <p:cNvGraphicFramePr>
            <a:graphicFrameLocks noGrp="1"/>
          </p:cNvGraphicFramePr>
          <p:nvPr>
            <p:extLst>
              <p:ext uri="{D42A27DB-BD31-4B8C-83A1-F6EECF244321}">
                <p14:modId xmlns:p14="http://schemas.microsoft.com/office/powerpoint/2010/main" val="2088604963"/>
              </p:ext>
            </p:extLst>
          </p:nvPr>
        </p:nvGraphicFramePr>
        <p:xfrm>
          <a:off x="1248697" y="2302663"/>
          <a:ext cx="8911304" cy="2021840"/>
        </p:xfrm>
        <a:graphic>
          <a:graphicData uri="http://schemas.openxmlformats.org/drawingml/2006/table">
            <a:tbl>
              <a:tblPr firstRow="1" bandRow="1">
                <a:tableStyleId>{93296810-A885-4BE3-A3E7-6D5BEEA58F35}</a:tableStyleId>
              </a:tblPr>
              <a:tblGrid>
                <a:gridCol w="3008671">
                  <a:extLst>
                    <a:ext uri="{9D8B030D-6E8A-4147-A177-3AD203B41FA5}">
                      <a16:colId xmlns:a16="http://schemas.microsoft.com/office/drawing/2014/main" val="2831909995"/>
                    </a:ext>
                  </a:extLst>
                </a:gridCol>
                <a:gridCol w="1446981">
                  <a:extLst>
                    <a:ext uri="{9D8B030D-6E8A-4147-A177-3AD203B41FA5}">
                      <a16:colId xmlns:a16="http://schemas.microsoft.com/office/drawing/2014/main" val="641837208"/>
                    </a:ext>
                  </a:extLst>
                </a:gridCol>
                <a:gridCol w="2227826">
                  <a:extLst>
                    <a:ext uri="{9D8B030D-6E8A-4147-A177-3AD203B41FA5}">
                      <a16:colId xmlns:a16="http://schemas.microsoft.com/office/drawing/2014/main" val="1675086973"/>
                    </a:ext>
                  </a:extLst>
                </a:gridCol>
                <a:gridCol w="2227826">
                  <a:extLst>
                    <a:ext uri="{9D8B030D-6E8A-4147-A177-3AD203B41FA5}">
                      <a16:colId xmlns:a16="http://schemas.microsoft.com/office/drawing/2014/main" val="2614005733"/>
                    </a:ext>
                  </a:extLst>
                </a:gridCol>
              </a:tblGrid>
              <a:tr h="370840">
                <a:tc>
                  <a:txBody>
                    <a:bodyPr/>
                    <a:lstStyle/>
                    <a:p>
                      <a:r>
                        <a:rPr lang="en-GB" dirty="0"/>
                        <a:t>Test Dataset</a:t>
                      </a:r>
                      <a:endParaRPr lang="en-US" dirty="0"/>
                    </a:p>
                  </a:txBody>
                  <a:tcPr/>
                </a:tc>
                <a:tc>
                  <a:txBody>
                    <a:bodyPr/>
                    <a:lstStyle/>
                    <a:p>
                      <a:r>
                        <a:rPr lang="en-GB" dirty="0"/>
                        <a:t>Number of CIFS</a:t>
                      </a:r>
                      <a:endParaRPr lang="en-US" dirty="0"/>
                    </a:p>
                  </a:txBody>
                  <a:tcPr/>
                </a:tc>
                <a:tc>
                  <a:txBody>
                    <a:bodyPr/>
                    <a:lstStyle/>
                    <a:p>
                      <a:r>
                        <a:rPr lang="en-GB" dirty="0"/>
                        <a:t>Model Accuracy</a:t>
                      </a:r>
                      <a:endParaRPr lang="en-US" dirty="0"/>
                    </a:p>
                  </a:txBody>
                  <a:tcPr/>
                </a:tc>
                <a:tc>
                  <a:txBody>
                    <a:bodyPr/>
                    <a:lstStyle/>
                    <a:p>
                      <a:r>
                        <a:rPr lang="en-GB" dirty="0"/>
                        <a:t>Cosine similarity</a:t>
                      </a:r>
                      <a:endParaRPr lang="en-US" dirty="0"/>
                    </a:p>
                  </a:txBody>
                  <a:tcPr/>
                </a:tc>
                <a:extLst>
                  <a:ext uri="{0D108BD9-81ED-4DB2-BD59-A6C34878D82A}">
                    <a16:rowId xmlns:a16="http://schemas.microsoft.com/office/drawing/2014/main" val="336107980"/>
                  </a:ext>
                </a:extLst>
              </a:tr>
              <a:tr h="370840">
                <a:tc>
                  <a:txBody>
                    <a:bodyPr/>
                    <a:lstStyle/>
                    <a:p>
                      <a:r>
                        <a:rPr lang="en-GB" dirty="0"/>
                        <a:t>10% holdout set from the (MP) and COD dataset</a:t>
                      </a:r>
                      <a:endParaRPr lang="en-US" dirty="0"/>
                    </a:p>
                  </a:txBody>
                  <a:tcPr/>
                </a:tc>
                <a:tc>
                  <a:txBody>
                    <a:bodyPr/>
                    <a:lstStyle/>
                    <a:p>
                      <a:r>
                        <a:rPr lang="en-GB" dirty="0"/>
                        <a:t>4,900</a:t>
                      </a:r>
                      <a:endParaRPr lang="en-US" dirty="0"/>
                    </a:p>
                  </a:txBody>
                  <a:tcPr/>
                </a:tc>
                <a:tc>
                  <a:txBody>
                    <a:bodyPr/>
                    <a:lstStyle/>
                    <a:p>
                      <a:r>
                        <a:rPr lang="en-GB" dirty="0"/>
                        <a:t>88.6%</a:t>
                      </a:r>
                      <a:endParaRPr lang="en-US" dirty="0"/>
                    </a:p>
                  </a:txBody>
                  <a:tcPr/>
                </a:tc>
                <a:tc>
                  <a:txBody>
                    <a:bodyPr/>
                    <a:lstStyle/>
                    <a:p>
                      <a:r>
                        <a:rPr lang="en-GB" dirty="0"/>
                        <a:t>70%</a:t>
                      </a:r>
                      <a:endParaRPr lang="en-US" dirty="0"/>
                    </a:p>
                  </a:txBody>
                  <a:tcPr/>
                </a:tc>
                <a:extLst>
                  <a:ext uri="{0D108BD9-81ED-4DB2-BD59-A6C34878D82A}">
                    <a16:rowId xmlns:a16="http://schemas.microsoft.com/office/drawing/2014/main" val="838490495"/>
                  </a:ext>
                </a:extLst>
              </a:tr>
              <a:tr h="370840">
                <a:tc>
                  <a:txBody>
                    <a:bodyPr/>
                    <a:lstStyle/>
                    <a:p>
                      <a:r>
                        <a:rPr lang="en-US" dirty="0" err="1"/>
                        <a:t>NiCoAl</a:t>
                      </a:r>
                      <a:r>
                        <a:rPr lang="en-US" dirty="0"/>
                        <a:t> dataset</a:t>
                      </a:r>
                    </a:p>
                  </a:txBody>
                  <a:tcPr/>
                </a:tc>
                <a:tc>
                  <a:txBody>
                    <a:bodyPr/>
                    <a:lstStyle/>
                    <a:p>
                      <a:r>
                        <a:rPr lang="en-US" dirty="0"/>
                        <a:t>31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46.4%</a:t>
                      </a:r>
                      <a:endParaRPr lang="en-US" dirty="0"/>
                    </a:p>
                  </a:txBody>
                  <a:tcPr/>
                </a:tc>
                <a:tc>
                  <a:txBody>
                    <a:bodyPr/>
                    <a:lstStyle/>
                    <a:p>
                      <a:r>
                        <a:rPr lang="en-US" dirty="0"/>
                        <a:t>40.8%</a:t>
                      </a:r>
                    </a:p>
                  </a:txBody>
                  <a:tcPr/>
                </a:tc>
                <a:extLst>
                  <a:ext uri="{0D108BD9-81ED-4DB2-BD59-A6C34878D82A}">
                    <a16:rowId xmlns:a16="http://schemas.microsoft.com/office/drawing/2014/main" val="1969717060"/>
                  </a:ext>
                </a:extLst>
              </a:tr>
              <a:tr h="370840">
                <a:tc>
                  <a:txBody>
                    <a:bodyPr/>
                    <a:lstStyle/>
                    <a:p>
                      <a:r>
                        <a:rPr lang="en-US" dirty="0"/>
                        <a:t>RRUFF</a:t>
                      </a:r>
                    </a:p>
                  </a:txBody>
                  <a:tcPr/>
                </a:tc>
                <a:tc>
                  <a:txBody>
                    <a:bodyPr/>
                    <a:lstStyle/>
                    <a:p>
                      <a:r>
                        <a:rPr lang="en-GB" dirty="0"/>
                        <a:t>105</a:t>
                      </a:r>
                      <a:endParaRPr lang="en-US" dirty="0"/>
                    </a:p>
                  </a:txBody>
                  <a:tcPr/>
                </a:tc>
                <a:tc>
                  <a:txBody>
                    <a:bodyPr/>
                    <a:lstStyle/>
                    <a:p>
                      <a:r>
                        <a:rPr lang="en-US" dirty="0"/>
                        <a:t>46%</a:t>
                      </a:r>
                    </a:p>
                  </a:txBody>
                  <a:tcPr/>
                </a:tc>
                <a:tc>
                  <a:txBody>
                    <a:bodyPr/>
                    <a:lstStyle/>
                    <a:p>
                      <a:r>
                        <a:rPr lang="en-US" dirty="0"/>
                        <a:t>28%</a:t>
                      </a:r>
                    </a:p>
                  </a:txBody>
                  <a:tcPr/>
                </a:tc>
                <a:extLst>
                  <a:ext uri="{0D108BD9-81ED-4DB2-BD59-A6C34878D82A}">
                    <a16:rowId xmlns:a16="http://schemas.microsoft.com/office/drawing/2014/main" val="2264521428"/>
                  </a:ext>
                </a:extLst>
              </a:tr>
            </a:tbl>
          </a:graphicData>
        </a:graphic>
      </p:graphicFrame>
    </p:spTree>
    <p:extLst>
      <p:ext uri="{BB962C8B-B14F-4D97-AF65-F5344CB8AC3E}">
        <p14:creationId xmlns:p14="http://schemas.microsoft.com/office/powerpoint/2010/main" val="254624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8BB13-28AE-801B-ECD2-DFE9E65ADBB0}"/>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F4422D7-3981-FD71-72D6-EB2729B9216F}"/>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13</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2072544-C568-4D05-5EA4-05B3E357F06D}"/>
              </a:ext>
            </a:extLst>
          </p:cNvPr>
          <p:cNvSpPr txBox="1"/>
          <p:nvPr/>
        </p:nvSpPr>
        <p:spPr>
          <a:xfrm>
            <a:off x="437066" y="288720"/>
            <a:ext cx="3692482"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ea typeface="ＭＳ Ｐゴシック"/>
              </a:rPr>
              <a:t>Composition similarity</a:t>
            </a:r>
            <a:endParaRPr lang="de-DE" sz="2400" b="1" spc="-1" dirty="0">
              <a:solidFill>
                <a:srgbClr val="0070C0"/>
              </a:solidFill>
              <a:latin typeface="Arial"/>
              <a:ea typeface="ＭＳ Ｐゴシック"/>
            </a:endParaRPr>
          </a:p>
        </p:txBody>
      </p:sp>
      <p:sp>
        <p:nvSpPr>
          <p:cNvPr id="5" name="TextBox 4">
            <a:extLst>
              <a:ext uri="{FF2B5EF4-FFF2-40B4-BE49-F238E27FC236}">
                <a16:creationId xmlns:a16="http://schemas.microsoft.com/office/drawing/2014/main" id="{BAB00561-8D39-DE38-ECFF-FE2A23B9C5B3}"/>
              </a:ext>
            </a:extLst>
          </p:cNvPr>
          <p:cNvSpPr txBox="1"/>
          <p:nvPr/>
        </p:nvSpPr>
        <p:spPr>
          <a:xfrm>
            <a:off x="437065" y="903211"/>
            <a:ext cx="10407915" cy="2031325"/>
          </a:xfrm>
          <a:prstGeom prst="rect">
            <a:avLst/>
          </a:prstGeom>
          <a:noFill/>
        </p:spPr>
        <p:txBody>
          <a:bodyPr wrap="square" rtlCol="0">
            <a:spAutoFit/>
          </a:bodyPr>
          <a:lstStyle/>
          <a:p>
            <a:r>
              <a:rPr lang="en-GB" dirty="0"/>
              <a:t>Cosine similarity measures the angular similarity between ℓ₂-normalized embedding vectors, capturing compositional proximity independent of magnitude. Higher similarity values indicate chemically related compositions in the learned embedding space.</a:t>
            </a:r>
          </a:p>
          <a:p>
            <a:endParaRPr lang="en-GB" dirty="0"/>
          </a:p>
          <a:p>
            <a:r>
              <a:rPr lang="en-GB" dirty="0"/>
              <a:t>The examples below show retrieval results using a </a:t>
            </a:r>
            <a:r>
              <a:rPr lang="en-GB" dirty="0" err="1"/>
              <a:t>NiCoAl</a:t>
            </a:r>
            <a:r>
              <a:rPr lang="en-GB" dirty="0"/>
              <a:t>-based query composition. In both cases, the correct crystal system and space group appear within the top-5 retrieved candidates, demonstrating the effectiveness of embedding-based compositional retrieval.</a:t>
            </a:r>
          </a:p>
        </p:txBody>
      </p:sp>
      <p:pic>
        <p:nvPicPr>
          <p:cNvPr id="12" name="Picture 11" descr="A screenshot of a computer&#10;&#10;AI-generated content may be incorrect.">
            <a:extLst>
              <a:ext uri="{FF2B5EF4-FFF2-40B4-BE49-F238E27FC236}">
                <a16:creationId xmlns:a16="http://schemas.microsoft.com/office/drawing/2014/main" id="{21CA97C1-DA94-3380-A600-918DA938625A}"/>
              </a:ext>
            </a:extLst>
          </p:cNvPr>
          <p:cNvPicPr>
            <a:picLocks noChangeAspect="1"/>
          </p:cNvPicPr>
          <p:nvPr/>
        </p:nvPicPr>
        <p:blipFill>
          <a:blip r:embed="rId3"/>
          <a:stretch>
            <a:fillRect/>
          </a:stretch>
        </p:blipFill>
        <p:spPr>
          <a:xfrm>
            <a:off x="6412852" y="3409230"/>
            <a:ext cx="5342083" cy="243861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F242A430-8545-DEE2-55D2-D1A2D0F35D45}"/>
              </a:ext>
            </a:extLst>
          </p:cNvPr>
          <p:cNvPicPr>
            <a:picLocks noChangeAspect="1"/>
          </p:cNvPicPr>
          <p:nvPr/>
        </p:nvPicPr>
        <p:blipFill>
          <a:blip r:embed="rId4"/>
          <a:stretch>
            <a:fillRect/>
          </a:stretch>
        </p:blipFill>
        <p:spPr>
          <a:xfrm>
            <a:off x="245796" y="3409230"/>
            <a:ext cx="6017353" cy="2438611"/>
          </a:xfrm>
          <a:prstGeom prst="rect">
            <a:avLst/>
          </a:prstGeom>
        </p:spPr>
      </p:pic>
    </p:spTree>
    <p:extLst>
      <p:ext uri="{BB962C8B-B14F-4D97-AF65-F5344CB8AC3E}">
        <p14:creationId xmlns:p14="http://schemas.microsoft.com/office/powerpoint/2010/main" val="1202881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3D2E4-4D3E-7F82-373F-97280B9C2A99}"/>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898CA767-4B80-FEA3-CE64-37E848160799}"/>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14</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850D529-EADD-2777-F353-84E3095F17A6}"/>
              </a:ext>
            </a:extLst>
          </p:cNvPr>
          <p:cNvSpPr txBox="1"/>
          <p:nvPr/>
        </p:nvSpPr>
        <p:spPr>
          <a:xfrm>
            <a:off x="437066" y="288720"/>
            <a:ext cx="6096528"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RUFF Dataset Composition Coverage</a:t>
            </a:r>
            <a:endParaRPr lang="de-DE" sz="2000" b="1" spc="-1" dirty="0">
              <a:solidFill>
                <a:srgbClr val="0070C0"/>
              </a:solidFill>
              <a:latin typeface="Arial"/>
              <a:ea typeface="ＭＳ Ｐゴシック"/>
            </a:endParaRPr>
          </a:p>
        </p:txBody>
      </p:sp>
      <p:pic>
        <p:nvPicPr>
          <p:cNvPr id="4" name="Picture 3" descr="A screenshot of a computer&#10;&#10;AI-generated content may be incorrect.">
            <a:extLst>
              <a:ext uri="{FF2B5EF4-FFF2-40B4-BE49-F238E27FC236}">
                <a16:creationId xmlns:a16="http://schemas.microsoft.com/office/drawing/2014/main" id="{FB696021-1C6D-4F0E-A4CD-42F31E23365C}"/>
              </a:ext>
            </a:extLst>
          </p:cNvPr>
          <p:cNvPicPr>
            <a:picLocks noChangeAspect="1"/>
          </p:cNvPicPr>
          <p:nvPr/>
        </p:nvPicPr>
        <p:blipFill>
          <a:blip r:embed="rId3"/>
          <a:stretch>
            <a:fillRect/>
          </a:stretch>
        </p:blipFill>
        <p:spPr>
          <a:xfrm>
            <a:off x="5658406" y="173160"/>
            <a:ext cx="6096528" cy="5753599"/>
          </a:xfrm>
          <a:prstGeom prst="rect">
            <a:avLst/>
          </a:prstGeom>
        </p:spPr>
      </p:pic>
      <p:sp>
        <p:nvSpPr>
          <p:cNvPr id="2" name="TextBox 1">
            <a:extLst>
              <a:ext uri="{FF2B5EF4-FFF2-40B4-BE49-F238E27FC236}">
                <a16:creationId xmlns:a16="http://schemas.microsoft.com/office/drawing/2014/main" id="{E4DC5B11-BFAC-9EF7-1FF5-8163365C23BE}"/>
              </a:ext>
            </a:extLst>
          </p:cNvPr>
          <p:cNvSpPr txBox="1"/>
          <p:nvPr/>
        </p:nvSpPr>
        <p:spPr>
          <a:xfrm>
            <a:off x="437066" y="903211"/>
            <a:ext cx="4538058" cy="3693319"/>
          </a:xfrm>
          <a:prstGeom prst="rect">
            <a:avLst/>
          </a:prstGeom>
          <a:noFill/>
        </p:spPr>
        <p:txBody>
          <a:bodyPr wrap="square" rtlCol="0">
            <a:spAutoFit/>
          </a:bodyPr>
          <a:lstStyle/>
          <a:p>
            <a:r>
              <a:rPr lang="en-GB" dirty="0"/>
              <a:t>This screenshot highlights that most compositions from the RRUFF dataset are not present in the compositional data collected from the Materials Project (MP) and the Crystallography Open Database (COD).</a:t>
            </a:r>
          </a:p>
          <a:p>
            <a:endParaRPr lang="en-GB" dirty="0"/>
          </a:p>
          <a:p>
            <a:endParaRPr lang="en-GB" dirty="0"/>
          </a:p>
          <a:p>
            <a:r>
              <a:rPr lang="en-GB" dirty="0"/>
              <a:t>Despite this limited compositional overlap, the model is still able to generalize and perform classification with acceptable accuracy, demonstrating robustness to distribution shift.</a:t>
            </a:r>
          </a:p>
        </p:txBody>
      </p:sp>
    </p:spTree>
    <p:extLst>
      <p:ext uri="{BB962C8B-B14F-4D97-AF65-F5344CB8AC3E}">
        <p14:creationId xmlns:p14="http://schemas.microsoft.com/office/powerpoint/2010/main" val="2419667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8159-69C7-5121-BC53-DFE38BBC981F}"/>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0036B60F-D339-B447-D5C1-466FA2B2882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15</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AC9C82B0-F092-165B-3BE7-6CC1CE3A29DF}"/>
              </a:ext>
            </a:extLst>
          </p:cNvPr>
          <p:cNvSpPr txBox="1"/>
          <p:nvPr/>
        </p:nvSpPr>
        <p:spPr>
          <a:xfrm>
            <a:off x="437066" y="288720"/>
            <a:ext cx="6096528" cy="350377"/>
          </a:xfrm>
          <a:prstGeom prst="rect">
            <a:avLst/>
          </a:prstGeom>
          <a:noFill/>
          <a:ln>
            <a:noFill/>
          </a:ln>
        </p:spPr>
        <p:txBody>
          <a:bodyPr lIns="0" tIns="0" rIns="0" bIns="0">
            <a:noAutofit/>
          </a:bodyPr>
          <a:lstStyle/>
          <a:p>
            <a:pPr marL="808200" indent="-806400">
              <a:tabLst>
                <a:tab pos="0" algn="l"/>
              </a:tabLst>
            </a:pPr>
            <a:r>
              <a:rPr lang="en-GB" sz="2000" b="1" spc="-1" dirty="0">
                <a:solidFill>
                  <a:srgbClr val="0070C0"/>
                </a:solidFill>
                <a:latin typeface="Arial"/>
                <a:ea typeface="ＭＳ Ｐゴシック"/>
              </a:rPr>
              <a:t>Hierarchical Clustering of IG Fingerprints</a:t>
            </a:r>
            <a:r>
              <a:rPr lang="en-US" sz="2000" b="1" spc="-1" dirty="0">
                <a:solidFill>
                  <a:srgbClr val="0070C0"/>
                </a:solidFill>
                <a:latin typeface="Arial"/>
                <a:ea typeface="ＭＳ Ｐゴシック"/>
              </a:rPr>
              <a:t> </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D862FC68-CC90-5002-011F-929E2F6BA476}"/>
              </a:ext>
            </a:extLst>
          </p:cNvPr>
          <p:cNvSpPr txBox="1"/>
          <p:nvPr/>
        </p:nvSpPr>
        <p:spPr>
          <a:xfrm>
            <a:off x="437066" y="903211"/>
            <a:ext cx="4803528" cy="4247317"/>
          </a:xfrm>
          <a:prstGeom prst="rect">
            <a:avLst/>
          </a:prstGeom>
          <a:noFill/>
        </p:spPr>
        <p:txBody>
          <a:bodyPr wrap="square" rtlCol="0">
            <a:spAutoFit/>
          </a:bodyPr>
          <a:lstStyle/>
          <a:p>
            <a:r>
              <a:rPr lang="en-GB" dirty="0"/>
              <a:t>The dendrogram shows clustering of mean Integrated Gradients (IG) attribution patterns for the seven crystal systems. </a:t>
            </a:r>
          </a:p>
          <a:p>
            <a:endParaRPr lang="en-GB" dirty="0"/>
          </a:p>
          <a:p>
            <a:r>
              <a:rPr lang="en-GB" dirty="0"/>
              <a:t>Two main groups emerge: low-symmetry systems (</a:t>
            </a:r>
            <a:r>
              <a:rPr lang="en-GB" i="1" dirty="0"/>
              <a:t>triclinic, monoclinic, orthorhombic</a:t>
            </a:r>
            <a:r>
              <a:rPr lang="en-GB" dirty="0"/>
              <a:t>) cluster together, while higher-symmetry systems (</a:t>
            </a:r>
            <a:r>
              <a:rPr lang="en-GB" i="1" dirty="0"/>
              <a:t>hexagonal, cubic, tetragonal, trigonal</a:t>
            </a:r>
            <a:r>
              <a:rPr lang="en-GB" dirty="0"/>
              <a:t>) form a separate branch. </a:t>
            </a:r>
          </a:p>
          <a:p>
            <a:endParaRPr lang="en-GB" dirty="0"/>
          </a:p>
          <a:p>
            <a:r>
              <a:rPr lang="en-GB" dirty="0"/>
              <a:t>This indicates that the model relies on distinct diffraction regions to differentiate low- and high-symmetry crystal systems, reflecting meaningful structural relationships in its learned representations.</a:t>
            </a:r>
          </a:p>
        </p:txBody>
      </p:sp>
      <p:pic>
        <p:nvPicPr>
          <p:cNvPr id="5" name="Picture 4" descr="A diagram of a cluster of fingerprints&#10;&#10;AI-generated content may be incorrect.">
            <a:extLst>
              <a:ext uri="{FF2B5EF4-FFF2-40B4-BE49-F238E27FC236}">
                <a16:creationId xmlns:a16="http://schemas.microsoft.com/office/drawing/2014/main" id="{3B384CB6-307B-8F84-02D8-0E9583C97F3D}"/>
              </a:ext>
            </a:extLst>
          </p:cNvPr>
          <p:cNvPicPr>
            <a:picLocks noChangeAspect="1"/>
          </p:cNvPicPr>
          <p:nvPr/>
        </p:nvPicPr>
        <p:blipFill>
          <a:blip r:embed="rId3"/>
          <a:stretch>
            <a:fillRect/>
          </a:stretch>
        </p:blipFill>
        <p:spPr>
          <a:xfrm>
            <a:off x="5034115" y="790575"/>
            <a:ext cx="7036517" cy="4364422"/>
          </a:xfrm>
          <a:prstGeom prst="rect">
            <a:avLst/>
          </a:prstGeom>
        </p:spPr>
      </p:pic>
    </p:spTree>
    <p:extLst>
      <p:ext uri="{BB962C8B-B14F-4D97-AF65-F5344CB8AC3E}">
        <p14:creationId xmlns:p14="http://schemas.microsoft.com/office/powerpoint/2010/main" val="3346241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2181-F6AD-81F6-4D95-1A29223DF7A8}"/>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70C120D7-1C5F-0D71-6F04-320EF57CF327}"/>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16</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44FC1B6-3BBE-F4A3-76D3-B88C5C18543D}"/>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Integrated Gradients Attribution Fingerprints per Crystal System</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BD4751D9-DD1D-5311-E911-87C16934F8C3}"/>
              </a:ext>
            </a:extLst>
          </p:cNvPr>
          <p:cNvSpPr txBox="1"/>
          <p:nvPr/>
        </p:nvSpPr>
        <p:spPr>
          <a:xfrm>
            <a:off x="437067" y="903211"/>
            <a:ext cx="10712714" cy="923330"/>
          </a:xfrm>
          <a:prstGeom prst="rect">
            <a:avLst/>
          </a:prstGeom>
          <a:noFill/>
        </p:spPr>
        <p:txBody>
          <a:bodyPr wrap="square" rtlCol="0">
            <a:spAutoFit/>
          </a:bodyPr>
          <a:lstStyle/>
          <a:p>
            <a:r>
              <a:rPr lang="en-US" dirty="0"/>
              <a:t>The heatmap displays the normalized mean IG importance across 2</a:t>
            </a:r>
            <a:r>
              <a:rPr lang="el-GR" dirty="0"/>
              <a:t>θ </a:t>
            </a:r>
            <a:r>
              <a:rPr lang="en-US" dirty="0"/>
              <a:t>for each crystal system. Bright regions mark diffraction angles most influential in the model’s decisions, revealing symmetry-dependent attribution patterns.</a:t>
            </a:r>
            <a:endParaRPr lang="en-GB" dirty="0"/>
          </a:p>
        </p:txBody>
      </p:sp>
      <p:pic>
        <p:nvPicPr>
          <p:cNvPr id="4" name="Picture 3" descr="A close-up of a colorful screen&#10;&#10;AI-generated content may be incorrect.">
            <a:extLst>
              <a:ext uri="{FF2B5EF4-FFF2-40B4-BE49-F238E27FC236}">
                <a16:creationId xmlns:a16="http://schemas.microsoft.com/office/drawing/2014/main" id="{9B954CA5-8D21-BA3E-D046-1C0B5963166A}"/>
              </a:ext>
            </a:extLst>
          </p:cNvPr>
          <p:cNvPicPr>
            <a:picLocks noChangeAspect="1"/>
          </p:cNvPicPr>
          <p:nvPr/>
        </p:nvPicPr>
        <p:blipFill>
          <a:blip r:embed="rId3"/>
          <a:stretch>
            <a:fillRect/>
          </a:stretch>
        </p:blipFill>
        <p:spPr>
          <a:xfrm>
            <a:off x="1800828" y="2090655"/>
            <a:ext cx="8590343" cy="3962707"/>
          </a:xfrm>
          <a:prstGeom prst="rect">
            <a:avLst/>
          </a:prstGeom>
        </p:spPr>
      </p:pic>
    </p:spTree>
    <p:extLst>
      <p:ext uri="{BB962C8B-B14F-4D97-AF65-F5344CB8AC3E}">
        <p14:creationId xmlns:p14="http://schemas.microsoft.com/office/powerpoint/2010/main" val="573503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F07E-7663-956D-D1F0-162DA362CAEB}"/>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CB660C4A-A428-8626-EC15-20610FA8CCC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17</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36EBA05-19D4-91A6-E773-8445394FE89E}"/>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Cubic vs. Tetragonal</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82CEAC12-B942-ED74-1C9B-449FC1F32305}"/>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cubic and tetragonal systems across 2θ. Positive regions indicate angles more important for cubic classification, while negative regions </a:t>
            </a:r>
            <a:r>
              <a:rPr lang="en-GB" dirty="0" err="1"/>
              <a:t>favor</a:t>
            </a:r>
            <a:r>
              <a:rPr lang="en-GB" dirty="0"/>
              <a:t> tetragonal. These localized differences reveal the diffraction regions driving the model’s distinction between the two symmetries.</a:t>
            </a:r>
          </a:p>
        </p:txBody>
      </p:sp>
      <p:pic>
        <p:nvPicPr>
          <p:cNvPr id="5" name="Picture 4" descr="A graph of ice formations&#10;&#10;AI-generated content may be incorrect.">
            <a:extLst>
              <a:ext uri="{FF2B5EF4-FFF2-40B4-BE49-F238E27FC236}">
                <a16:creationId xmlns:a16="http://schemas.microsoft.com/office/drawing/2014/main" id="{A623D136-7EFF-1DA9-39B7-DCA92A2723DA}"/>
              </a:ext>
            </a:extLst>
          </p:cNvPr>
          <p:cNvPicPr>
            <a:picLocks noChangeAspect="1"/>
          </p:cNvPicPr>
          <p:nvPr/>
        </p:nvPicPr>
        <p:blipFill>
          <a:blip r:embed="rId3"/>
          <a:stretch>
            <a:fillRect/>
          </a:stretch>
        </p:blipFill>
        <p:spPr>
          <a:xfrm>
            <a:off x="194389" y="2336812"/>
            <a:ext cx="11803222" cy="3314080"/>
          </a:xfrm>
          <a:prstGeom prst="rect">
            <a:avLst/>
          </a:prstGeom>
        </p:spPr>
      </p:pic>
    </p:spTree>
    <p:extLst>
      <p:ext uri="{BB962C8B-B14F-4D97-AF65-F5344CB8AC3E}">
        <p14:creationId xmlns:p14="http://schemas.microsoft.com/office/powerpoint/2010/main" val="2476494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3C9E-1735-A2EB-86B9-D3702F265CDA}"/>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3C2B3611-DD91-2A9A-2D62-0C951134836F}"/>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18</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09687622-54A6-9717-0A33-536F57DFAF29}"/>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Trigonal vs. Tetragonal</a:t>
            </a:r>
          </a:p>
          <a:p>
            <a:pPr marL="808200" indent="-806400">
              <a:tabLst>
                <a:tab pos="0" algn="l"/>
              </a:tabLst>
            </a:pP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4215EAFC-D53A-B16A-F71B-73F4D5EC2792}"/>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trigonal and tetragonal crystal systems across 2θ. Positive regions indicate diffraction angles more influential for trigonal classification, while negative regions </a:t>
            </a:r>
            <a:r>
              <a:rPr lang="en-GB" dirty="0" err="1"/>
              <a:t>favor</a:t>
            </a:r>
            <a:r>
              <a:rPr lang="en-GB" dirty="0"/>
              <a:t> tetragonal. The alternating localized peaks highlight the specific diffraction regions the model uses to distinguish between these two symmetry classes..</a:t>
            </a:r>
          </a:p>
        </p:txBody>
      </p:sp>
      <p:pic>
        <p:nvPicPr>
          <p:cNvPr id="4" name="Picture 3" descr="A graph showing a graph&#10;&#10;AI-generated content may be incorrect.">
            <a:extLst>
              <a:ext uri="{FF2B5EF4-FFF2-40B4-BE49-F238E27FC236}">
                <a16:creationId xmlns:a16="http://schemas.microsoft.com/office/drawing/2014/main" id="{87327147-806E-CC4D-0D8A-83C378933ABB}"/>
              </a:ext>
            </a:extLst>
          </p:cNvPr>
          <p:cNvPicPr>
            <a:picLocks noChangeAspect="1"/>
          </p:cNvPicPr>
          <p:nvPr/>
        </p:nvPicPr>
        <p:blipFill>
          <a:blip r:embed="rId3"/>
          <a:stretch>
            <a:fillRect/>
          </a:stretch>
        </p:blipFill>
        <p:spPr>
          <a:xfrm>
            <a:off x="0" y="2531549"/>
            <a:ext cx="12192000" cy="3423240"/>
          </a:xfrm>
          <a:prstGeom prst="rect">
            <a:avLst/>
          </a:prstGeom>
        </p:spPr>
      </p:pic>
    </p:spTree>
    <p:extLst>
      <p:ext uri="{BB962C8B-B14F-4D97-AF65-F5344CB8AC3E}">
        <p14:creationId xmlns:p14="http://schemas.microsoft.com/office/powerpoint/2010/main" val="264507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EC92E-F7EF-1661-22B5-B30C6725917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3316A7E5-3BDC-EF8D-F308-DDACE38471BE}"/>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19</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9A36EBC0-1F72-44AB-05F4-02A9786B19A5}"/>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Trigonal vs. Tetragonal</a:t>
            </a:r>
          </a:p>
          <a:p>
            <a:pPr marL="808200" indent="-806400">
              <a:tabLst>
                <a:tab pos="0" algn="l"/>
              </a:tabLst>
            </a:pP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1B676655-0EFB-E55B-66DC-80D551AD5F52}"/>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trigonal and tetragonal crystal systems across 2θ. Positive regions indicate diffraction angles more influential for trigonal classification, while negative regions </a:t>
            </a:r>
            <a:r>
              <a:rPr lang="en-GB" dirty="0" err="1"/>
              <a:t>favor</a:t>
            </a:r>
            <a:r>
              <a:rPr lang="en-GB" dirty="0"/>
              <a:t> tetragonal. The alternating localized peaks highlight the specific diffraction regions the model uses to distinguish between these two symmetry classes..</a:t>
            </a:r>
          </a:p>
        </p:txBody>
      </p:sp>
    </p:spTree>
    <p:extLst>
      <p:ext uri="{BB962C8B-B14F-4D97-AF65-F5344CB8AC3E}">
        <p14:creationId xmlns:p14="http://schemas.microsoft.com/office/powerpoint/2010/main" val="3274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B8A-5CF4-050F-627C-F4950887D728}"/>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72B42D07-92F5-47EF-562C-5D418741C50D}"/>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20</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997B1557-E1ED-4CA1-855A-6BFFEFC4BA55}"/>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Trigonal vs. Tetragonal</a:t>
            </a:r>
          </a:p>
          <a:p>
            <a:pPr marL="808200" indent="-806400">
              <a:tabLst>
                <a:tab pos="0" algn="l"/>
              </a:tabLst>
            </a:pP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2674D199-3B80-194C-5311-11EACAF2D531}"/>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trigonal and tetragonal crystal systems across 2θ. Positive regions indicate diffraction angles more influential for trigonal classification, while negative regions </a:t>
            </a:r>
            <a:r>
              <a:rPr lang="en-GB" dirty="0" err="1"/>
              <a:t>favor</a:t>
            </a:r>
            <a:r>
              <a:rPr lang="en-GB" dirty="0"/>
              <a:t> tetragonal. The alternating localized peaks highlight the specific diffraction regions the model uses to distinguish between these two symmetry classes..</a:t>
            </a:r>
          </a:p>
        </p:txBody>
      </p:sp>
      <p:pic>
        <p:nvPicPr>
          <p:cNvPr id="4" name="Picture 3" descr="A graph showing a graph&#10;&#10;AI-generated content may be incorrect.">
            <a:extLst>
              <a:ext uri="{FF2B5EF4-FFF2-40B4-BE49-F238E27FC236}">
                <a16:creationId xmlns:a16="http://schemas.microsoft.com/office/drawing/2014/main" id="{615838AD-0B4D-2290-B8EE-293F50D8ACB8}"/>
              </a:ext>
            </a:extLst>
          </p:cNvPr>
          <p:cNvPicPr>
            <a:picLocks noChangeAspect="1"/>
          </p:cNvPicPr>
          <p:nvPr/>
        </p:nvPicPr>
        <p:blipFill>
          <a:blip r:embed="rId3"/>
          <a:stretch>
            <a:fillRect/>
          </a:stretch>
        </p:blipFill>
        <p:spPr>
          <a:xfrm>
            <a:off x="0" y="2531549"/>
            <a:ext cx="12192000" cy="3423240"/>
          </a:xfrm>
          <a:prstGeom prst="rect">
            <a:avLst/>
          </a:prstGeom>
        </p:spPr>
      </p:pic>
    </p:spTree>
    <p:extLst>
      <p:ext uri="{BB962C8B-B14F-4D97-AF65-F5344CB8AC3E}">
        <p14:creationId xmlns:p14="http://schemas.microsoft.com/office/powerpoint/2010/main" val="1172253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2C531A-13E0-7D0A-CB5E-3B910B9D2B5E}"/>
              </a:ext>
            </a:extLst>
          </p:cNvPr>
          <p:cNvSpPr txBox="1"/>
          <p:nvPr/>
        </p:nvSpPr>
        <p:spPr>
          <a:xfrm>
            <a:off x="194200" y="5755958"/>
            <a:ext cx="6106160" cy="707886"/>
          </a:xfrm>
          <a:prstGeom prst="rect">
            <a:avLst/>
          </a:prstGeom>
          <a:noFill/>
        </p:spPr>
        <p:txBody>
          <a:bodyPr wrap="square">
            <a:spAutoFit/>
          </a:bodyPr>
          <a:lstStyle/>
          <a:p>
            <a:pPr>
              <a:lnSpc>
                <a:spcPct val="100000"/>
              </a:lnSpc>
            </a:pPr>
            <a:r>
              <a:rPr lang="en-US" sz="2000" b="0" strike="noStrike" spc="-1" dirty="0">
                <a:solidFill>
                  <a:srgbClr val="E9E9E9"/>
                </a:solidFill>
                <a:latin typeface="+mj-lt"/>
              </a:rPr>
              <a:t>Contact</a:t>
            </a:r>
            <a:endParaRPr lang="en-US" sz="2000" b="0" strike="noStrike" spc="-1" dirty="0">
              <a:solidFill>
                <a:srgbClr val="45ACDF"/>
              </a:solidFill>
              <a:latin typeface="+mj-lt"/>
            </a:endParaRPr>
          </a:p>
          <a:p>
            <a:pPr>
              <a:lnSpc>
                <a:spcPct val="100000"/>
              </a:lnSpc>
            </a:pPr>
            <a:r>
              <a:rPr lang="en-US" sz="2000" b="0" strike="noStrike" spc="-1" dirty="0">
                <a:solidFill>
                  <a:srgbClr val="E9E9E9"/>
                </a:solidFill>
                <a:latin typeface="+mj-lt"/>
              </a:rPr>
              <a:t>E-Mail: Doaa.Mohamed@ruhr-uni-bochum.de</a:t>
            </a:r>
            <a:endParaRPr lang="en-US" sz="2000" b="0" strike="noStrike" spc="-1" dirty="0">
              <a:solidFill>
                <a:srgbClr val="45ACDF"/>
              </a:solidFill>
              <a:latin typeface="+mj-lt"/>
            </a:endParaRPr>
          </a:p>
        </p:txBody>
      </p:sp>
      <p:sp>
        <p:nvSpPr>
          <p:cNvPr id="8" name="TextShape 2">
            <a:extLst>
              <a:ext uri="{FF2B5EF4-FFF2-40B4-BE49-F238E27FC236}">
                <a16:creationId xmlns:a16="http://schemas.microsoft.com/office/drawing/2014/main" id="{941F82F6-F927-8BFE-3EB5-B4FB51313B43}"/>
              </a:ext>
            </a:extLst>
          </p:cNvPr>
          <p:cNvSpPr txBox="1"/>
          <p:nvPr/>
        </p:nvSpPr>
        <p:spPr>
          <a:xfrm>
            <a:off x="724320" y="1371960"/>
            <a:ext cx="6590880" cy="592200"/>
          </a:xfrm>
          <a:prstGeom prst="rect">
            <a:avLst/>
          </a:prstGeom>
          <a:noFill/>
          <a:ln>
            <a:noFill/>
          </a:ln>
        </p:spPr>
        <p:txBody>
          <a:bodyPr lIns="0" tIns="0" rIns="0" bIns="0">
            <a:noAutofit/>
          </a:bodyPr>
          <a:lstStyle/>
          <a:p>
            <a:pPr marL="808200" indent="-806400" algn="ctr">
              <a:lnSpc>
                <a:spcPct val="100000"/>
              </a:lnSpc>
              <a:tabLst>
                <a:tab pos="0" algn="l"/>
              </a:tabLst>
            </a:pPr>
            <a:r>
              <a:rPr lang="de-DE" sz="3800" b="1" strike="noStrike" spc="-1" dirty="0">
                <a:solidFill>
                  <a:srgbClr val="45ACDF"/>
                </a:solidFill>
                <a:latin typeface="Arial"/>
                <a:ea typeface="ＭＳ Ｐゴシック"/>
              </a:rPr>
              <a:t>Feedback and Questions</a:t>
            </a:r>
            <a:endParaRPr lang="de-DE" sz="3800" b="0" strike="noStrike" spc="-1" dirty="0">
              <a:solidFill>
                <a:srgbClr val="14272E"/>
              </a:solidFill>
              <a:latin typeface="Calibri"/>
            </a:endParaRPr>
          </a:p>
        </p:txBody>
      </p:sp>
    </p:spTree>
    <p:extLst>
      <p:ext uri="{BB962C8B-B14F-4D97-AF65-F5344CB8AC3E}">
        <p14:creationId xmlns:p14="http://schemas.microsoft.com/office/powerpoint/2010/main" val="527820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1043</Words>
  <Application>Microsoft Office PowerPoint</Application>
  <PresentationFormat>Widescreen</PresentationFormat>
  <Paragraphs>137</Paragraphs>
  <Slides>21</Slides>
  <Notes>18</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21</vt:i4>
      </vt:variant>
    </vt:vector>
  </HeadingPairs>
  <TitlesOfParts>
    <vt:vector size="35" baseType="lpstr">
      <vt:lpstr>ＭＳ Ｐゴシック</vt:lpstr>
      <vt:lpstr>Aptos</vt:lpstr>
      <vt:lpstr>Arial</vt:lpstr>
      <vt:lpstr>Calibri</vt:lpstr>
      <vt:lpstr>Futura Bk BT</vt:lpstr>
      <vt:lpstr>Symbol</vt:lpstr>
      <vt:lpstr>Times New Roman</vt:lpstr>
      <vt:lpstr>Wingdings</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number</dc:title>
  <dc:subject/>
  <dc:creator>Markus Stricker</dc:creator>
  <dc:description/>
  <cp:lastModifiedBy>Ahmed Mohamed Negm Abdallah ELSEADAWY</cp:lastModifiedBy>
  <cp:revision>162</cp:revision>
  <cp:lastPrinted>2024-08-23T14:30:35Z</cp:lastPrinted>
  <dcterms:created xsi:type="dcterms:W3CDTF">2024-08-21T16:32:21Z</dcterms:created>
  <dcterms:modified xsi:type="dcterms:W3CDTF">2026-02-18T07:09:27Z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PresentationFormat">
    <vt:lpwstr>Breitbild</vt:lpwstr>
  </property>
  <property fmtid="{D5CDD505-2E9C-101B-9397-08002B2CF9AE}" pid="4" name="Slides">
    <vt:i4>7</vt:i4>
  </property>
</Properties>
</file>